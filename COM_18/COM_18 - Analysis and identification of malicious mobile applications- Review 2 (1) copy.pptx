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9"/>
  </p:notesMasterIdLst>
  <p:sldIdLst>
    <p:sldId id="256" r:id="rId2"/>
    <p:sldId id="269" r:id="rId3"/>
    <p:sldId id="257" r:id="rId4"/>
    <p:sldId id="273" r:id="rId5"/>
    <p:sldId id="268" r:id="rId6"/>
    <p:sldId id="280" r:id="rId7"/>
    <p:sldId id="272" r:id="rId8"/>
    <p:sldId id="271" r:id="rId9"/>
    <p:sldId id="270" r:id="rId10"/>
    <p:sldId id="278" r:id="rId11"/>
    <p:sldId id="274" r:id="rId12"/>
    <p:sldId id="275" r:id="rId13"/>
    <p:sldId id="276" r:id="rId14"/>
    <p:sldId id="279" r:id="rId15"/>
    <p:sldId id="277" r:id="rId16"/>
    <p:sldId id="265"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bg2"/>
                </a:solidFill>
                <a:latin typeface="Cambria" panose="02040503050406030204" pitchFamily="18" charset="0"/>
                <a:ea typeface="Cambria" panose="02040503050406030204" pitchFamily="18" charset="0"/>
              </a:rPr>
              <a:t>Analysis and identification of malicious mobile applications</a:t>
            </a: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COM_18</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a:t>
            </a:r>
            <a:r>
              <a:rPr lang="en-GB" sz="1700" b="1" dirty="0">
                <a:solidFill>
                  <a:srgbClr val="17365D"/>
                </a:solidFill>
                <a:latin typeface="Cambria" panose="02040503050406030204" pitchFamily="18" charset="0"/>
                <a:ea typeface="Cambria" panose="02040503050406030204" pitchFamily="18" charset="0"/>
                <a:cs typeface="Verdana"/>
                <a:sym typeface="Verdana"/>
              </a:rPr>
              <a:t> Sunil Kumar Sahoo</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568842927"/>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20221COM0165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BHOOMIKA S HORAPETI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20221COM0144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ROSHAN RAJU K </a:t>
                      </a:r>
                      <a:r>
                        <a:rPr lang="en-US" sz="1800" u="none" strike="noStrike" cap="none" dirty="0" err="1"/>
                        <a:t>K</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20221COM0171</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AMOGH ARUN MALAGE</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tx1"/>
                </a:solidFill>
                <a:latin typeface="Cambria" panose="02040503050406030204" pitchFamily="18" charset="0"/>
                <a:ea typeface="Cambria" panose="02040503050406030204" pitchFamily="18" charset="0"/>
                <a:cs typeface="Verdana"/>
                <a:sym typeface="Verdana"/>
              </a:rPr>
              <a:t>COMPUTER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Dr. PALLAVI R</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eaLnBrk="0" fontAlgn="base" hangingPunct="0">
              <a:spcBef>
                <a:spcPct val="0"/>
              </a:spcBef>
              <a:spcAft>
                <a:spcPct val="0"/>
              </a:spcAft>
              <a:buClrTx/>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altLang="en-US" sz="1800" b="1" dirty="0">
                <a:latin typeface="Times New Roman" panose="02020603050405020304" pitchFamily="18" charset="0"/>
                <a:cs typeface="Times New Roman" panose="02020603050405020304" pitchFamily="18" charset="0"/>
              </a:rPr>
              <a:t>Ms. BENITHA CHRISTINAL</a:t>
            </a:r>
            <a:r>
              <a:rPr lang="en-US" altLang="en-US" sz="1800" dirty="0">
                <a:solidFill>
                  <a:schemeClr val="tx1"/>
                </a:solidFill>
              </a:rPr>
              <a:t> </a:t>
            </a:r>
            <a:r>
              <a:rPr lang="en-US" altLang="en-US" sz="1800" b="1" dirty="0">
                <a:latin typeface="Times New Roman" panose="02020603050405020304" pitchFamily="18" charset="0"/>
                <a:cs typeface="Times New Roman" panose="02020603050405020304" pitchFamily="18" charset="0"/>
              </a:rPr>
              <a:t>J</a:t>
            </a:r>
            <a:endParaRPr lang="en-US" altLang="en-US" sz="1800" dirty="0">
              <a:solidFill>
                <a:schemeClr val="tx1"/>
              </a:solidFill>
              <a:latin typeface="Arial" panose="020B0604020202020204" pitchFamily="34" charset="0"/>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68</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Organization: Ministry of Power</a:t>
            </a:r>
          </a:p>
          <a:p>
            <a:pPr marL="342900" lvl="0" indent="-190500" algn="just">
              <a:lnSpc>
                <a:spcPct val="200000"/>
              </a:lnSpc>
              <a:spcBef>
                <a:spcPts val="0"/>
              </a:spcBef>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Category (Hardware / Software / Both) : Software </a:t>
            </a:r>
          </a:p>
          <a:p>
            <a:pPr marL="342900" lvl="0" indent="-190500" algn="just">
              <a:lnSpc>
                <a:spcPct val="200000"/>
              </a:lnSpc>
              <a:spcBef>
                <a:spcPts val="0"/>
              </a:spcBef>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Problem Description: ln today's world, using different mobile applications for specific tasks is very common. This leads to smart phone users accumulating too many applications over a period. Seldom do users delete unused applications. Any application performing malicious tasks can very easily go unnoticed. So, there is a need to develop a mobile app tool that can use open-source intelligence and threat feeds to detect various indicators of compromise in the smartphones. The tool can check network communication to various </a:t>
            </a:r>
            <a:r>
              <a:rPr lang="en-US" sz="2000" dirty="0" err="1">
                <a:latin typeface="Times New Roman" panose="02020603050405020304" pitchFamily="18" charset="0"/>
                <a:ea typeface="Cambria" panose="02040503050406030204" pitchFamily="18" charset="0"/>
                <a:cs typeface="Times New Roman" panose="02020603050405020304" pitchFamily="18" charset="0"/>
              </a:rPr>
              <a:t>lP</a:t>
            </a:r>
            <a:r>
              <a:rPr lang="en-US" sz="2000" dirty="0">
                <a:latin typeface="Times New Roman" panose="02020603050405020304" pitchFamily="18" charset="0"/>
                <a:ea typeface="Cambria" panose="02040503050406030204" pitchFamily="18" charset="0"/>
                <a:cs typeface="Times New Roman" panose="02020603050405020304" pitchFamily="18" charset="0"/>
              </a:rPr>
              <a:t> addresses that are suspicious, various URLs that are suspicious, inbound connections or packets from applications that are suspicious.</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84082"/>
            <a:ext cx="10668000" cy="4798243"/>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Abstract </a:t>
            </a:r>
          </a:p>
          <a:p>
            <a:pPr marL="49530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Literature Survey</a:t>
            </a:r>
          </a:p>
          <a:p>
            <a:pPr marL="49530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lvl="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Existing Methods and Drawbacks</a:t>
            </a:r>
          </a:p>
          <a:p>
            <a:pPr marL="495300" lvl="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Proposed Method and Feasibility Study</a:t>
            </a:r>
          </a:p>
          <a:p>
            <a:pPr marL="495300" indent="-342900" algn="just">
              <a:lnSpc>
                <a:spcPct val="150000"/>
              </a:lnSpc>
              <a:spcBef>
                <a:spcPts val="0"/>
              </a:spcBef>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Modules</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Hardware and software details </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Timeline</a:t>
            </a:r>
          </a:p>
          <a:p>
            <a:pPr marL="495300" lvl="0" indent="-342900" algn="just" rtl="0">
              <a:lnSpc>
                <a:spcPct val="150000"/>
              </a:lnSpc>
              <a:spcBef>
                <a:spcPts val="0"/>
              </a:spcBef>
              <a:spcAft>
                <a:spcPts val="0"/>
              </a:spcAft>
              <a:buClr>
                <a:schemeClr val="dk1"/>
              </a:buClr>
              <a:buSzPts val="24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50000"/>
              </a:lnSpc>
              <a:spcBef>
                <a:spcPts val="0"/>
              </a:spcBef>
              <a:spcAft>
                <a:spcPts val="0"/>
              </a:spcAft>
              <a:buClr>
                <a:schemeClr val="dk1"/>
              </a:buClr>
              <a:buSzPts val="2400"/>
              <a:buFont typeface="Wingdings" panose="05000000000000000000" pitchFamily="2" charset="2"/>
              <a:buChar char="Ø"/>
            </a:pPr>
            <a:endParaRPr sz="20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Abstract</a:t>
            </a:r>
          </a:p>
        </p:txBody>
      </p:sp>
      <p:sp>
        <p:nvSpPr>
          <p:cNvPr id="115" name="Google Shape;115;p17"/>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SzPct val="100000"/>
              <a:buNone/>
            </a:pPr>
            <a:r>
              <a:rPr lang="en-US" sz="2200" dirty="0">
                <a:latin typeface="Times New Roman" panose="02020603050405020304" pitchFamily="18" charset="0"/>
                <a:ea typeface="Cambria" panose="02040503050406030204" pitchFamily="18" charset="0"/>
                <a:cs typeface="Times New Roman" panose="02020603050405020304" pitchFamily="18" charset="0"/>
              </a:rPr>
              <a:t>The fast development of mobile apps has changed the nature of how people and businesses communicate with technology, yet they have even introduced new avenues of cybercriminals to exploit the weaknesses. The ill-intended mobile application that may masquerade as an authentic software can pilfer personal data, interfere with the privacy of the user, and disrupt routine operations of the device. The given project is dedicated to the evaluation and detection of such malicious mobile application in the systematic and data-driven fashion. The project will make a distinction between good and malicious applications by analyzing both the static and dynamic characteristics of mobile applications, such as permissions, API calls, network behavior, and code patterns. The detection is conducted using machine learning models in order to enhance accuracy and increase classification. The research also assesses current security defenses, detects weaknesses in the current detection methods and recommends streamlined security measures in real-time protection. The result of this work helps to reinforce the frameworks of mobile security and offers more resilience to the users to the changing threats of mobile security.</a:t>
            </a:r>
          </a:p>
          <a:p>
            <a:pPr marL="342900" lvl="0" indent="-190500" algn="just" rtl="0">
              <a:spcBef>
                <a:spcPts val="0"/>
              </a:spcBef>
              <a:spcAft>
                <a:spcPts val="0"/>
              </a:spcAft>
              <a:buClr>
                <a:schemeClr val="dk1"/>
              </a:buClr>
              <a:buSzPct val="100000"/>
              <a:buNone/>
            </a:pPr>
            <a:endParaRPr lang="en-US" sz="22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sz="22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lang="en-US" sz="22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rtl="0">
              <a:lnSpc>
                <a:spcPct val="200000"/>
              </a:lnSpc>
              <a:spcBef>
                <a:spcPts val="0"/>
              </a:spcBef>
              <a:spcAft>
                <a:spcPts val="0"/>
              </a:spcAft>
              <a:buClr>
                <a:schemeClr val="dk1"/>
              </a:buClr>
              <a:buSzPct val="100000"/>
              <a:buNone/>
            </a:pPr>
            <a:endParaRPr sz="22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gn="just">
              <a:lnSpc>
                <a:spcPct val="200000"/>
              </a:lnSpc>
            </a:pPr>
            <a:r>
              <a:rPr lang="en-US" dirty="0">
                <a:latin typeface="Cambria" panose="02040503050406030204" pitchFamily="18" charset="0"/>
                <a:ea typeface="Cambria" panose="02040503050406030204" pitchFamily="18" charset="0"/>
              </a:rPr>
              <a:t>Literature Survey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5105400"/>
          </a:xfrm>
          <a:prstGeom prst="rect">
            <a:avLst/>
          </a:prstGeom>
          <a:noFill/>
          <a:ln>
            <a:noFill/>
          </a:ln>
        </p:spPr>
        <p:txBody>
          <a:bodyPr spcFirstLastPara="1" wrap="square" lIns="91425" tIns="45700" rIns="91425" bIns="45700" anchor="t" anchorCtr="0">
            <a:normAutofit fontScale="85000" lnSpcReduction="1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Enck et al. (2010) presented </a:t>
            </a:r>
            <a:r>
              <a:rPr lang="en-US" dirty="0" err="1">
                <a:latin typeface="Times New Roman" panose="02020603050405020304" pitchFamily="18" charset="0"/>
                <a:ea typeface="Cambria" panose="02040503050406030204" pitchFamily="18" charset="0"/>
                <a:cs typeface="Times New Roman" panose="02020603050405020304" pitchFamily="18" charset="0"/>
              </a:rPr>
              <a:t>TaintDroid</a:t>
            </a:r>
            <a:r>
              <a:rPr lang="en-US" dirty="0">
                <a:latin typeface="Times New Roman" panose="02020603050405020304" pitchFamily="18" charset="0"/>
                <a:ea typeface="Cambria" panose="02040503050406030204" pitchFamily="18" charset="0"/>
                <a:cs typeface="Times New Roman" panose="02020603050405020304" pitchFamily="18" charset="0"/>
              </a:rPr>
              <a:t> a dynamic taint-tracking framework, which tracks privacy sensitive data flows in Android in real time. It showed severe privacy leakage, though it required system-level change and it was susceptible to obfuscation, restricting its practical use [1]. Based on the existing methods, Arzt et al. (2014) introduced a lifecycle-aware taint analysis which was named </a:t>
            </a:r>
            <a:r>
              <a:rPr lang="en-US" dirty="0" err="1">
                <a:latin typeface="Times New Roman" panose="02020603050405020304" pitchFamily="18" charset="0"/>
                <a:ea typeface="Cambria" panose="02040503050406030204" pitchFamily="18" charset="0"/>
                <a:cs typeface="Times New Roman" panose="02020603050405020304" pitchFamily="18" charset="0"/>
              </a:rPr>
              <a:t>FlowDroid</a:t>
            </a:r>
            <a:r>
              <a:rPr lang="en-US" dirty="0">
                <a:latin typeface="Times New Roman" panose="02020603050405020304" pitchFamily="18" charset="0"/>
                <a:ea typeface="Cambria" panose="02040503050406030204" pitchFamily="18" charset="0"/>
                <a:cs typeface="Times New Roman" panose="02020603050405020304" pitchFamily="18" charset="0"/>
              </a:rPr>
              <a:t>, which exhibited high accuracy in the identification of data leaks, but was computationally intensive and could not depend on the runtime practices [2].</a:t>
            </a: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Arp et al. (2014) have introduced DREBIN that applied machine learning on on-device malware detection with lightweight static features (permissions, API calls). It could be interpreted and scaled and but was obfuscated and scaled with API changes [3]. </a:t>
            </a:r>
            <a:r>
              <a:rPr lang="en-US" dirty="0" err="1">
                <a:latin typeface="Times New Roman" panose="02020603050405020304" pitchFamily="18" charset="0"/>
                <a:ea typeface="Cambria" panose="02040503050406030204" pitchFamily="18" charset="0"/>
                <a:cs typeface="Times New Roman" panose="02020603050405020304" pitchFamily="18" charset="0"/>
              </a:rPr>
              <a:t>Mariconti</a:t>
            </a:r>
            <a:r>
              <a:rPr lang="en-US" dirty="0">
                <a:latin typeface="Times New Roman" panose="02020603050405020304" pitchFamily="18" charset="0"/>
                <a:ea typeface="Cambria" panose="02040503050406030204" pitchFamily="18" charset="0"/>
                <a:cs typeface="Times New Roman" panose="02020603050405020304" pitchFamily="18" charset="0"/>
              </a:rPr>
              <a:t> et al. (2017) enhanced some </a:t>
            </a:r>
            <a:r>
              <a:rPr lang="en-US" dirty="0" err="1">
                <a:latin typeface="Times New Roman" panose="02020603050405020304" pitchFamily="18" charset="0"/>
                <a:ea typeface="Cambria" panose="02040503050406030204" pitchFamily="18" charset="0"/>
                <a:cs typeface="Times New Roman" panose="02020603050405020304" pitchFamily="18" charset="0"/>
              </a:rPr>
              <a:t>MaMaDroid</a:t>
            </a:r>
            <a:r>
              <a:rPr lang="en-US" dirty="0">
                <a:latin typeface="Times New Roman" panose="02020603050405020304" pitchFamily="18" charset="0"/>
                <a:ea typeface="Cambria" panose="02040503050406030204" pitchFamily="18" charset="0"/>
                <a:cs typeface="Times New Roman" panose="02020603050405020304" pitchFamily="18" charset="0"/>
              </a:rPr>
              <a:t>, the modeling of API sequences as Markov chains. This method had improved temporal stability, but remained poor at dynamic loading of codes [4].</a:t>
            </a: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In support of research, Allix et al. (2016) published </a:t>
            </a:r>
            <a:r>
              <a:rPr lang="en-US" dirty="0" err="1">
                <a:latin typeface="Times New Roman" panose="02020603050405020304" pitchFamily="18" charset="0"/>
                <a:ea typeface="Cambria" panose="02040503050406030204" pitchFamily="18" charset="0"/>
                <a:cs typeface="Times New Roman" panose="02020603050405020304" pitchFamily="18" charset="0"/>
              </a:rPr>
              <a:t>AndroZoo</a:t>
            </a:r>
            <a:r>
              <a:rPr lang="en-US" dirty="0">
                <a:latin typeface="Times New Roman" panose="02020603050405020304" pitchFamily="18" charset="0"/>
                <a:ea typeface="Cambria" panose="02040503050406030204" pitchFamily="18" charset="0"/>
                <a:cs typeface="Times New Roman" panose="02020603050405020304" pitchFamily="18" charset="0"/>
              </a:rPr>
              <a:t>, a large repository of apps to use in large-scale experiments, but it relies on external labeling [5]. In a similar way, Wei et al. (2017) refined the AMD data by family-level ground truth, which offers good benchmarks but not very large-scale [6]. Behavioral logging was made possible by dynamic analysis tools such as </a:t>
            </a:r>
            <a:r>
              <a:rPr lang="en-US" dirty="0" err="1">
                <a:latin typeface="Times New Roman" panose="02020603050405020304" pitchFamily="18" charset="0"/>
                <a:ea typeface="Cambria" panose="02040503050406030204" pitchFamily="18" charset="0"/>
                <a:cs typeface="Times New Roman" panose="02020603050405020304" pitchFamily="18" charset="0"/>
              </a:rPr>
              <a:t>DroidBox</a:t>
            </a:r>
            <a:r>
              <a:rPr lang="en-US" dirty="0">
                <a:latin typeface="Times New Roman" panose="02020603050405020304" pitchFamily="18" charset="0"/>
                <a:ea typeface="Cambria" panose="02040503050406030204" pitchFamily="18" charset="0"/>
                <a:cs typeface="Times New Roman" panose="02020603050405020304" pitchFamily="18" charset="0"/>
              </a:rPr>
              <a:t> and </a:t>
            </a:r>
            <a:r>
              <a:rPr lang="en-US" dirty="0" err="1">
                <a:latin typeface="Times New Roman" panose="02020603050405020304" pitchFamily="18" charset="0"/>
                <a:ea typeface="Cambria" panose="02040503050406030204" pitchFamily="18" charset="0"/>
                <a:cs typeface="Times New Roman" panose="02020603050405020304" pitchFamily="18" charset="0"/>
              </a:rPr>
              <a:t>CuckooDroid</a:t>
            </a:r>
            <a:r>
              <a:rPr lang="en-US" dirty="0">
                <a:latin typeface="Times New Roman" panose="02020603050405020304" pitchFamily="18" charset="0"/>
                <a:ea typeface="Cambria" panose="02040503050406030204" pitchFamily="18" charset="0"/>
                <a:cs typeface="Times New Roman" panose="02020603050405020304" pitchFamily="18" charset="0"/>
              </a:rPr>
              <a:t>, but malware could easily bypass emulator-based designs [7].</a:t>
            </a:r>
          </a:p>
          <a:p>
            <a:pPr marL="342900" indent="-190500" algn="just">
              <a:lnSpc>
                <a:spcPct val="200000"/>
              </a:lnSpc>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lnSpc>
                <a:spcPct val="200000"/>
              </a:lnSpc>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lnSpc>
                <a:spcPct val="200000"/>
              </a:lnSpc>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561BBF-2DA3-FB70-1195-C8B8035C4F4C}"/>
              </a:ext>
            </a:extLst>
          </p:cNvPr>
          <p:cNvSpPr>
            <a:spLocks noGrp="1"/>
          </p:cNvSpPr>
          <p:nvPr>
            <p:ph type="body" idx="1"/>
          </p:nvPr>
        </p:nvSpPr>
        <p:spPr/>
        <p:txBody>
          <a:bodyPr/>
          <a:lstStyle/>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In recent works, graph neural networks (GNNs) were used to model call graphs and API relations with high malware family classification accuracy [8]. Nevertheless, the study of adversarial attacks revealed that more subtle changes (such as re-packaging, API </a:t>
            </a:r>
            <a:r>
              <a:rPr lang="en-US" dirty="0" err="1">
                <a:latin typeface="Times New Roman" panose="02020603050405020304" pitchFamily="18" charset="0"/>
                <a:ea typeface="Cambria" panose="02040503050406030204" pitchFamily="18" charset="0"/>
                <a:cs typeface="Times New Roman" panose="02020603050405020304" pitchFamily="18" charset="0"/>
              </a:rPr>
              <a:t>guardfencing</a:t>
            </a:r>
            <a:r>
              <a:rPr lang="en-US" dirty="0">
                <a:latin typeface="Times New Roman" panose="02020603050405020304" pitchFamily="18" charset="0"/>
                <a:ea typeface="Cambria" panose="02040503050406030204" pitchFamily="18" charset="0"/>
                <a:cs typeface="Times New Roman" panose="02020603050405020304" pitchFamily="18" charset="0"/>
              </a:rPr>
              <a:t>) may evade adversarial-detection systems such as DREBIN and </a:t>
            </a:r>
            <a:r>
              <a:rPr lang="en-US" dirty="0" err="1">
                <a:latin typeface="Times New Roman" panose="02020603050405020304" pitchFamily="18" charset="0"/>
                <a:ea typeface="Cambria" panose="02040503050406030204" pitchFamily="18" charset="0"/>
                <a:cs typeface="Times New Roman" panose="02020603050405020304" pitchFamily="18" charset="0"/>
              </a:rPr>
              <a:t>MaMaDroid</a:t>
            </a:r>
            <a:r>
              <a:rPr lang="en-US" dirty="0">
                <a:latin typeface="Times New Roman" panose="02020603050405020304" pitchFamily="18" charset="0"/>
                <a:ea typeface="Cambria" panose="02040503050406030204" pitchFamily="18" charset="0"/>
                <a:cs typeface="Times New Roman" panose="02020603050405020304" pitchFamily="18" charset="0"/>
              </a:rPr>
              <a:t> [9]. To resolve the issue of dataset age and sandbox evasion, CIC datasets ran apps on real devices and offered both static and dynamic logs that increased the level of realism but remained small-scale [10].</a:t>
            </a:r>
          </a:p>
          <a:p>
            <a:pPr marL="34290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Synthesis: This paper has previously covered the strengths and weaknesses of the static, dynamic and hybrid approaches to systems and databases in terms of scalability, robustness and adversarial hardiness. Current datasets enhance reproducibility but have problems of label noise and aging. It is these gaps that encourage solutions that are hybrid and adversary aware, as this project seeks to investigate to ensure more confidence in detecting malicious mobile applications.</a:t>
            </a:r>
          </a:p>
          <a:p>
            <a:endParaRPr lang="en-IN" dirty="0"/>
          </a:p>
        </p:txBody>
      </p:sp>
    </p:spTree>
    <p:extLst>
      <p:ext uri="{BB962C8B-B14F-4D97-AF65-F5344CB8AC3E}">
        <p14:creationId xmlns:p14="http://schemas.microsoft.com/office/powerpoint/2010/main" val="2444140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pPr marL="609600" lvl="0" indent="-457200" algn="just">
              <a:lnSpc>
                <a:spcPct val="200000"/>
              </a:lnSpc>
              <a:spcBef>
                <a:spcPts val="0"/>
              </a:spcBef>
              <a:buSzPct val="100000"/>
              <a:buFont typeface="+mj-lt"/>
              <a:buAutoNum type="arabicPeriod"/>
            </a:pPr>
            <a:r>
              <a:rPr lang="en-US" dirty="0">
                <a:latin typeface="Cambria" panose="02040503050406030204" pitchFamily="18" charset="0"/>
                <a:ea typeface="Cambria" panose="02040503050406030204" pitchFamily="18" charset="0"/>
              </a:rPr>
              <a:t>To evaluate the static and dynamic properties of mobile applications including permissions, API calls, network traffic and system behavior to detect evidence of malicious activity.</a:t>
            </a:r>
          </a:p>
          <a:p>
            <a:pPr marL="609600" lvl="0" indent="-457200" algn="just">
              <a:lnSpc>
                <a:spcPct val="200000"/>
              </a:lnSpc>
              <a:spcBef>
                <a:spcPts val="0"/>
              </a:spcBef>
              <a:buSzPct val="100000"/>
              <a:buFont typeface="+mj-lt"/>
              <a:buAutoNum type="arabicPeriod"/>
            </a:pPr>
            <a:r>
              <a:rPr lang="en-US" dirty="0">
                <a:latin typeface="Cambria" panose="02040503050406030204" pitchFamily="18" charset="0"/>
                <a:ea typeface="Cambria" panose="02040503050406030204" pitchFamily="18" charset="0"/>
              </a:rPr>
              <a:t>To create and train useful machine learning models (e.g., Random Forest, SVM, CNN, or hybrid models) that are capable of classifying mobile applications as benign or malicious.</a:t>
            </a:r>
          </a:p>
          <a:p>
            <a:pPr marL="609600" lvl="0" indent="-457200" algn="just">
              <a:lnSpc>
                <a:spcPct val="200000"/>
              </a:lnSpc>
              <a:spcBef>
                <a:spcPts val="0"/>
              </a:spcBef>
              <a:buSzPct val="100000"/>
              <a:buFont typeface="+mj-lt"/>
              <a:buAutoNum type="arabicPeriod"/>
            </a:pPr>
            <a:r>
              <a:rPr lang="en-US" dirty="0">
                <a:latin typeface="Cambria" panose="02040503050406030204" pitchFamily="18" charset="0"/>
                <a:ea typeface="Cambria" panose="02040503050406030204" pitchFamily="18" charset="0"/>
              </a:rPr>
              <a:t>To test the detecting framework with benchmark datasets such as </a:t>
            </a:r>
            <a:r>
              <a:rPr lang="en-US" dirty="0" err="1">
                <a:latin typeface="Cambria" panose="02040503050406030204" pitchFamily="18" charset="0"/>
                <a:ea typeface="Cambria" panose="02040503050406030204" pitchFamily="18" charset="0"/>
              </a:rPr>
              <a:t>AndroZoo</a:t>
            </a:r>
            <a:r>
              <a:rPr lang="en-US" dirty="0">
                <a:latin typeface="Cambria" panose="02040503050406030204" pitchFamily="18" charset="0"/>
                <a:ea typeface="Cambria" panose="02040503050406030204" pitchFamily="18" charset="0"/>
              </a:rPr>
              <a:t> and CIC-AndMal2020, and quantify performance in terms of accuracy, precision, recall and F1-score.</a:t>
            </a:r>
          </a:p>
          <a:p>
            <a:pPr marL="609600" lvl="0" indent="-457200" algn="just">
              <a:lnSpc>
                <a:spcPct val="200000"/>
              </a:lnSpc>
              <a:spcBef>
                <a:spcPts val="0"/>
              </a:spcBef>
              <a:buSzPct val="100000"/>
              <a:buFont typeface="+mj-lt"/>
              <a:buAutoNum type="arabicPeriod"/>
            </a:pPr>
            <a:r>
              <a:rPr lang="en-US" dirty="0">
                <a:latin typeface="Cambria" panose="02040503050406030204" pitchFamily="18" charset="0"/>
                <a:ea typeface="Cambria" panose="02040503050406030204" pitchFamily="18" charset="0"/>
              </a:rPr>
              <a:t>To create and introduce a lightweight prototype tool to automated the detection process and to give interpretable results, so that it can be used by researchers and mobile security practitioners.</a:t>
            </a:r>
          </a:p>
          <a:p>
            <a:pPr marL="609600" lvl="0" indent="-457200" algn="just">
              <a:lnSpc>
                <a:spcPct val="200000"/>
              </a:lnSpc>
              <a:spcBef>
                <a:spcPts val="0"/>
              </a:spcBef>
              <a:buSzPct val="100000"/>
              <a:buFont typeface="+mj-lt"/>
              <a:buAutoNum type="arabicPeriod"/>
            </a:pP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Existing Methods and Drawbacks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Current techniques of identifying malicious mobile applications can be classified broadly as signature-based, static, dynamic, hybrid, and machine learning techniques. Signature-based detection uses known malware patterns and works well in the case of previously known malware, but fails utterly with zero-day and obfuscated malware. Such app characteristics as permissions, API calls, and the manifest file can be analyzed quickly and at scale without code execution, with static analysis, but fails where attackers implement code obfuscation, dynamic loading, or reflection. Dynamic analysis runs program in a confined sandbox to record runtime behavior including network traffic and system calls to make the malware more difficult to conceal. However, it is time consuming, resource intensive and avoidable in the event the malware detects the sandbox. Hybrid methods are trying to integrate the characteristics of static and dynamic to achieve stronger detection, at a price of increased computational complexity and reduced scalability. Machine learning and deep learning methods have been popular because they can more effectively identify previously unknown malware, yet they need large labeled datasets, are susceptible to concept drift as malware continues to evolve, and are commonly black-box systems with low interpretability. These limitations underscore the necessity of an efficient, scalable and interpretable framework, that puts accuracy and usefulness on an even keel in practice.</a:t>
            </a:r>
            <a:endParaRPr sz="2000"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sz="3600" dirty="0">
                <a:latin typeface="Cambria" panose="02040503050406030204" pitchFamily="18" charset="0"/>
                <a:ea typeface="Cambria" panose="02040503050406030204" pitchFamily="18" charset="0"/>
              </a:rPr>
              <a:t>Proposed Method Feasibility Study</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Proposed Method:</a:t>
            </a:r>
          </a:p>
          <a:p>
            <a:pPr marL="342900" lvl="0" indent="-190500" algn="just">
              <a:spcBef>
                <a:spcPts val="0"/>
              </a:spcBef>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The proposed project presents a hybrid framework of detection which combines more traditional and dynamic analysis capabilities and uses machine learning and deep learning models to detect malicious mobile applications. All APK files will be extracted to extract static elements like permissions, API calls and manifest content and network traffic and system calls will be observed in a controlled environment. A hybrid (e.g., CNN-LSTM or Random Forest with feature engineering) will be trained on such benchmark datasets as </a:t>
            </a:r>
            <a:r>
              <a:rPr lang="en-US" dirty="0" err="1">
                <a:latin typeface="Times New Roman" panose="02020603050405020304" pitchFamily="18" charset="0"/>
                <a:ea typeface="Cambria" panose="02040503050406030204" pitchFamily="18" charset="0"/>
                <a:cs typeface="Times New Roman" panose="02020603050405020304" pitchFamily="18" charset="0"/>
              </a:rPr>
              <a:t>AndroZoo</a:t>
            </a:r>
            <a:r>
              <a:rPr lang="en-US" dirty="0">
                <a:latin typeface="Times New Roman" panose="02020603050405020304" pitchFamily="18" charset="0"/>
                <a:ea typeface="Cambria" panose="02040503050406030204" pitchFamily="18" charset="0"/>
                <a:cs typeface="Times New Roman" panose="02020603050405020304" pitchFamily="18" charset="0"/>
              </a:rPr>
              <a:t> or CIC-AndMal2020. The structure will be developed as a minimalistic prototype system that is able to process apps automatically and show consumers interpretable findings.</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1B417-4078-1736-C87F-6C3889EDE9B2}"/>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Feasibility Study</a:t>
            </a:r>
            <a:endParaRPr lang="en-IN" dirty="0"/>
          </a:p>
        </p:txBody>
      </p:sp>
      <p:sp>
        <p:nvSpPr>
          <p:cNvPr id="3" name="Text Placeholder 2">
            <a:extLst>
              <a:ext uri="{FF2B5EF4-FFF2-40B4-BE49-F238E27FC236}">
                <a16:creationId xmlns:a16="http://schemas.microsoft.com/office/drawing/2014/main" id="{41B5FACD-BFC0-3BD5-EE70-BB7B3C9FFA44}"/>
              </a:ext>
            </a:extLst>
          </p:cNvPr>
          <p:cNvSpPr>
            <a:spLocks noGrp="1"/>
          </p:cNvSpPr>
          <p:nvPr>
            <p:ph type="body" idx="1"/>
          </p:nvPr>
        </p:nvSpPr>
        <p:spPr/>
        <p:txBody>
          <a:bodyPr>
            <a:normAutofit/>
          </a:bodyPr>
          <a:lstStyle/>
          <a:p>
            <a:r>
              <a:rPr lang="en-US" dirty="0">
                <a:latin typeface="Times New Roman" panose="02020603050405020304" pitchFamily="18" charset="0"/>
                <a:cs typeface="Times New Roman" panose="02020603050405020304" pitchFamily="18" charset="0"/>
              </a:rPr>
              <a:t>Technology: The approach is based on open source software (Python, Scikit-learn, TensorFlow/</a:t>
            </a:r>
            <a:r>
              <a:rPr lang="en-US" dirty="0" err="1">
                <a:latin typeface="Times New Roman" panose="02020603050405020304" pitchFamily="18" charset="0"/>
                <a:cs typeface="Times New Roman" panose="02020603050405020304" pitchFamily="18" charset="0"/>
              </a:rPr>
              <a:t>Keras</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sandboxings</a:t>
            </a:r>
            <a:r>
              <a:rPr lang="en-US" dirty="0">
                <a:latin typeface="Times New Roman" panose="02020603050405020304" pitchFamily="18" charset="0"/>
                <a:cs typeface="Times New Roman" panose="02020603050405020304" pitchFamily="18" charset="0"/>
              </a:rPr>
              <a:t> systems such as </a:t>
            </a:r>
            <a:r>
              <a:rPr lang="en-US" dirty="0" err="1">
                <a:latin typeface="Times New Roman" panose="02020603050405020304" pitchFamily="18" charset="0"/>
                <a:cs typeface="Times New Roman" panose="02020603050405020304" pitchFamily="18" charset="0"/>
              </a:rPr>
              <a:t>DroidBox</a:t>
            </a:r>
            <a:r>
              <a:rPr lang="en-US" dirty="0">
                <a:latin typeface="Times New Roman" panose="02020603050405020304" pitchFamily="18" charset="0"/>
                <a:cs typeface="Times New Roman" panose="02020603050405020304" pitchFamily="18" charset="0"/>
              </a:rPr>
              <a:t>). They are very common and can be used with the conventional computing systems.</a:t>
            </a:r>
          </a:p>
          <a:p>
            <a:r>
              <a:rPr lang="en-US" dirty="0">
                <a:latin typeface="Times New Roman" panose="02020603050405020304" pitchFamily="18" charset="0"/>
                <a:cs typeface="Times New Roman" panose="02020603050405020304" pitchFamily="18" charset="0"/>
              </a:rPr>
              <a:t>Pricing: There is no significant hardware cost that would be needed other than a personal computer with a modest GPU/CPU power. The freely available benchmark datasets and open-source development tools are cost-effective, thus the project is very affordable.</a:t>
            </a:r>
          </a:p>
          <a:p>
            <a:r>
              <a:rPr lang="en-US" dirty="0">
                <a:latin typeface="Times New Roman" panose="02020603050405020304" pitchFamily="18" charset="0"/>
                <a:cs typeface="Times New Roman" panose="02020603050405020304" pitchFamily="18" charset="0"/>
              </a:rPr>
              <a:t>Resources: It is possible to develop the project in a scholarly setting with available resources, datasets, and computing resources. In case of more computational power, cloud resources (e.g., Google </a:t>
            </a:r>
            <a:r>
              <a:rPr lang="en-US" dirty="0" err="1">
                <a:latin typeface="Times New Roman" panose="02020603050405020304" pitchFamily="18" charset="0"/>
                <a:cs typeface="Times New Roman" panose="02020603050405020304" pitchFamily="18" charset="0"/>
              </a:rPr>
              <a:t>Colab</a:t>
            </a:r>
            <a:r>
              <a:rPr lang="en-US" dirty="0">
                <a:latin typeface="Times New Roman" panose="02020603050405020304" pitchFamily="18" charset="0"/>
                <a:cs typeface="Times New Roman" panose="02020603050405020304" pitchFamily="18" charset="0"/>
              </a:rPr>
              <a:t>) can be demanded.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0267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215A2-D8C0-EB05-0901-01BD2D4FA99C}"/>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Architecture Diagram</a:t>
            </a:r>
            <a:endParaRPr lang="en-IN" dirty="0"/>
          </a:p>
        </p:txBody>
      </p:sp>
      <p:pic>
        <p:nvPicPr>
          <p:cNvPr id="5" name="Picture 4">
            <a:extLst>
              <a:ext uri="{FF2B5EF4-FFF2-40B4-BE49-F238E27FC236}">
                <a16:creationId xmlns:a16="http://schemas.microsoft.com/office/drawing/2014/main" id="{10EA85FC-A5B8-149E-0DD2-822B465B9DF8}"/>
              </a:ext>
            </a:extLst>
          </p:cNvPr>
          <p:cNvPicPr>
            <a:picLocks noChangeAspect="1"/>
          </p:cNvPicPr>
          <p:nvPr/>
        </p:nvPicPr>
        <p:blipFill>
          <a:blip r:embed="rId2"/>
          <a:stretch>
            <a:fillRect/>
          </a:stretch>
        </p:blipFill>
        <p:spPr>
          <a:xfrm>
            <a:off x="3186260" y="989815"/>
            <a:ext cx="7051250" cy="5250730"/>
          </a:xfrm>
          <a:prstGeom prst="rect">
            <a:avLst/>
          </a:prstGeom>
        </p:spPr>
      </p:pic>
    </p:spTree>
    <p:extLst>
      <p:ext uri="{BB962C8B-B14F-4D97-AF65-F5344CB8AC3E}">
        <p14:creationId xmlns:p14="http://schemas.microsoft.com/office/powerpoint/2010/main" val="3230936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14931-588E-EE73-367D-2311186EF922}"/>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Modules</a:t>
            </a:r>
            <a:endParaRPr lang="en-IN" dirty="0"/>
          </a:p>
        </p:txBody>
      </p:sp>
      <p:sp>
        <p:nvSpPr>
          <p:cNvPr id="3" name="Text Placeholder 2">
            <a:extLst>
              <a:ext uri="{FF2B5EF4-FFF2-40B4-BE49-F238E27FC236}">
                <a16:creationId xmlns:a16="http://schemas.microsoft.com/office/drawing/2014/main" id="{6FC4E2FB-3120-4A77-29C2-0DDA721D3E2D}"/>
              </a:ext>
            </a:extLst>
          </p:cNvPr>
          <p:cNvSpPr>
            <a:spLocks noGrp="1"/>
          </p:cNvSpPr>
          <p:nvPr>
            <p:ph type="body" idx="1"/>
          </p:nvPr>
        </p:nvSpPr>
        <p:spPr/>
        <p:txBody>
          <a:bodyPr>
            <a:normAutofit fontScale="92500" lnSpcReduction="20000"/>
          </a:bodyPr>
          <a:lstStyle/>
          <a:p>
            <a:pPr marL="76200" indent="0">
              <a:buNone/>
            </a:pPr>
            <a:r>
              <a:rPr lang="en-IN" dirty="0">
                <a:latin typeface="Times New Roman" panose="02020603050405020304" pitchFamily="18" charset="0"/>
                <a:cs typeface="Times New Roman" panose="02020603050405020304" pitchFamily="18" charset="0"/>
              </a:rPr>
              <a:t>1.</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 Collection Module</a:t>
            </a:r>
          </a:p>
          <a:p>
            <a:pPr marL="76200" indent="0">
              <a:buNone/>
            </a:pPr>
            <a:r>
              <a:rPr lang="en-IN" dirty="0">
                <a:latin typeface="Times New Roman" panose="02020603050405020304" pitchFamily="18" charset="0"/>
                <a:cs typeface="Times New Roman" panose="02020603050405020304" pitchFamily="18" charset="0"/>
              </a:rPr>
              <a:t>	Collect APKs from </a:t>
            </a:r>
            <a:r>
              <a:rPr lang="en-IN" dirty="0" err="1">
                <a:latin typeface="Times New Roman" panose="02020603050405020304" pitchFamily="18" charset="0"/>
                <a:cs typeface="Times New Roman" panose="02020603050405020304" pitchFamily="18" charset="0"/>
              </a:rPr>
              <a:t>AndroZoo</a:t>
            </a:r>
            <a:r>
              <a:rPr lang="en-IN" dirty="0">
                <a:latin typeface="Times New Roman" panose="02020603050405020304" pitchFamily="18" charset="0"/>
                <a:cs typeface="Times New Roman" panose="02020603050405020304" pitchFamily="18" charset="0"/>
              </a:rPr>
              <a:t>, CIC-AndMal2020.</a:t>
            </a:r>
          </a:p>
          <a:p>
            <a:pPr marL="76200" indent="0">
              <a:buNone/>
            </a:pPr>
            <a:r>
              <a:rPr lang="en-IN" dirty="0">
                <a:latin typeface="Times New Roman" panose="02020603050405020304" pitchFamily="18" charset="0"/>
                <a:cs typeface="Times New Roman" panose="02020603050405020304" pitchFamily="18" charset="0"/>
              </a:rPr>
              <a:t>2. Static Feature Extraction Module</a:t>
            </a:r>
          </a:p>
          <a:p>
            <a:pPr marL="76200" indent="0">
              <a:buNone/>
            </a:pPr>
            <a:r>
              <a:rPr lang="en-IN" dirty="0">
                <a:latin typeface="Times New Roman" panose="02020603050405020304" pitchFamily="18" charset="0"/>
                <a:cs typeface="Times New Roman" panose="02020603050405020304" pitchFamily="18" charset="0"/>
              </a:rPr>
              <a:t>	Extract permissions, API calls, manifest details.</a:t>
            </a:r>
          </a:p>
          <a:p>
            <a:pPr marL="76200" indent="0">
              <a:buNone/>
            </a:pPr>
            <a:r>
              <a:rPr lang="en-IN" dirty="0">
                <a:latin typeface="Times New Roman" panose="02020603050405020304" pitchFamily="18" charset="0"/>
                <a:cs typeface="Times New Roman" panose="02020603050405020304" pitchFamily="18" charset="0"/>
              </a:rPr>
              <a:t>3. Dynamic Feature Extraction Module</a:t>
            </a:r>
          </a:p>
          <a:p>
            <a:pPr marL="76200" indent="0">
              <a:buNone/>
            </a:pPr>
            <a:r>
              <a:rPr lang="en-IN" dirty="0">
                <a:latin typeface="Times New Roman" panose="02020603050405020304" pitchFamily="18" charset="0"/>
                <a:cs typeface="Times New Roman" panose="02020603050405020304" pitchFamily="18" charset="0"/>
              </a:rPr>
              <a:t>	Capture system calls, network traffic (</a:t>
            </a:r>
            <a:r>
              <a:rPr lang="en-IN" dirty="0" err="1">
                <a:latin typeface="Times New Roman" panose="02020603050405020304" pitchFamily="18" charset="0"/>
                <a:cs typeface="Times New Roman" panose="02020603050405020304" pitchFamily="18" charset="0"/>
              </a:rPr>
              <a:t>DroidBox</a:t>
            </a:r>
            <a:r>
              <a:rPr lang="en-IN" dirty="0">
                <a:latin typeface="Times New Roman" panose="02020603050405020304" pitchFamily="18" charset="0"/>
                <a:cs typeface="Times New Roman" panose="02020603050405020304" pitchFamily="18" charset="0"/>
              </a:rPr>
              <a:t>, Wireshark).</a:t>
            </a:r>
          </a:p>
          <a:p>
            <a:pPr marL="76200" indent="0">
              <a:buNone/>
            </a:pPr>
            <a:r>
              <a:rPr lang="en-IN" dirty="0">
                <a:latin typeface="Times New Roman" panose="02020603050405020304" pitchFamily="18" charset="0"/>
                <a:cs typeface="Times New Roman" panose="02020603050405020304" pitchFamily="18" charset="0"/>
              </a:rPr>
              <a:t>4. Preprocessing Module</a:t>
            </a:r>
          </a:p>
          <a:p>
            <a:pPr marL="76200" indent="0">
              <a:buNone/>
            </a:pPr>
            <a:r>
              <a:rPr lang="en-IN" dirty="0">
                <a:latin typeface="Times New Roman" panose="02020603050405020304" pitchFamily="18" charset="0"/>
                <a:cs typeface="Times New Roman" panose="02020603050405020304" pitchFamily="18" charset="0"/>
              </a:rPr>
              <a:t>	Normalize and transform features into numerical vectors.</a:t>
            </a:r>
          </a:p>
          <a:p>
            <a:pPr marL="76200" indent="0">
              <a:buNone/>
            </a:pPr>
            <a:r>
              <a:rPr lang="en-IN" dirty="0">
                <a:latin typeface="Times New Roman" panose="02020603050405020304" pitchFamily="18" charset="0"/>
                <a:cs typeface="Times New Roman" panose="02020603050405020304" pitchFamily="18" charset="0"/>
              </a:rPr>
              <a:t>5. Hybrid Detection Module</a:t>
            </a:r>
          </a:p>
          <a:p>
            <a:pPr marL="76200" indent="0">
              <a:buNone/>
            </a:pPr>
            <a:r>
              <a:rPr lang="en-IN" dirty="0">
                <a:latin typeface="Times New Roman" panose="02020603050405020304" pitchFamily="18" charset="0"/>
                <a:cs typeface="Times New Roman" panose="02020603050405020304" pitchFamily="18" charset="0"/>
              </a:rPr>
              <a:t>	Apply CNN for spatial/static feature learning.</a:t>
            </a:r>
          </a:p>
          <a:p>
            <a:pPr marL="76200" indent="0">
              <a:buNone/>
            </a:pPr>
            <a:r>
              <a:rPr lang="en-IN" dirty="0">
                <a:latin typeface="Times New Roman" panose="02020603050405020304" pitchFamily="18" charset="0"/>
                <a:cs typeface="Times New Roman" panose="02020603050405020304" pitchFamily="18" charset="0"/>
              </a:rPr>
              <a:t>	Apply LSTM for sequential/dynamic feature learning.</a:t>
            </a:r>
          </a:p>
          <a:p>
            <a:pPr marL="76200" indent="0">
              <a:buNone/>
            </a:pPr>
            <a:r>
              <a:rPr lang="en-IN" dirty="0">
                <a:latin typeface="Times New Roman" panose="02020603050405020304" pitchFamily="18" charset="0"/>
                <a:cs typeface="Times New Roman" panose="02020603050405020304" pitchFamily="18" charset="0"/>
              </a:rPr>
              <a:t>6. Classification &amp; Evaluation Module</a:t>
            </a:r>
          </a:p>
          <a:p>
            <a:pPr marL="76200" indent="0">
              <a:buNone/>
            </a:pPr>
            <a:r>
              <a:rPr lang="en-IN" dirty="0">
                <a:latin typeface="Times New Roman" panose="02020603050405020304" pitchFamily="18" charset="0"/>
                <a:cs typeface="Times New Roman" panose="02020603050405020304" pitchFamily="18" charset="0"/>
              </a:rPr>
              <a:t>	Predict benign/malicious.</a:t>
            </a:r>
          </a:p>
          <a:p>
            <a:pPr marL="76200" indent="0">
              <a:buNone/>
            </a:pPr>
            <a:r>
              <a:rPr lang="en-IN" dirty="0">
                <a:latin typeface="Times New Roman" panose="02020603050405020304" pitchFamily="18" charset="0"/>
                <a:cs typeface="Times New Roman" panose="02020603050405020304" pitchFamily="18" charset="0"/>
              </a:rPr>
              <a:t>	Evaluate with Accuracy, Precision, Recall, F1-score.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9342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94ED-A702-BE69-EDD8-3180ECD90A5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Hardware details </a:t>
            </a:r>
            <a:endParaRPr lang="en-IN" dirty="0"/>
          </a:p>
        </p:txBody>
      </p:sp>
      <p:sp>
        <p:nvSpPr>
          <p:cNvPr id="3" name="Text Placeholder 2">
            <a:extLst>
              <a:ext uri="{FF2B5EF4-FFF2-40B4-BE49-F238E27FC236}">
                <a16:creationId xmlns:a16="http://schemas.microsoft.com/office/drawing/2014/main" id="{BF8164EB-81EF-A499-42AD-F4AEA1291A87}"/>
              </a:ext>
            </a:extLst>
          </p:cNvPr>
          <p:cNvSpPr>
            <a:spLocks noGrp="1"/>
          </p:cNvSpPr>
          <p:nvPr>
            <p:ph type="body" idx="1"/>
          </p:nvPr>
        </p:nvSpPr>
        <p:spPr/>
        <p:txBody>
          <a:bodyPr>
            <a:normAutofit/>
          </a:bodyPr>
          <a:lstStyle/>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	1. Processor:</a:t>
            </a:r>
            <a:r>
              <a:rPr lang="en-IN" dirty="0">
                <a:latin typeface="Times New Roman" panose="02020603050405020304" pitchFamily="18" charset="0"/>
                <a:ea typeface="Cambria" panose="02040503050406030204" pitchFamily="18" charset="0"/>
                <a:cs typeface="Times New Roman" panose="02020603050405020304" pitchFamily="18" charset="0"/>
              </a:rPr>
              <a:t> Intel i5/i7 </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	2. RAM:</a:t>
            </a:r>
            <a:r>
              <a:rPr lang="en-IN" dirty="0">
                <a:latin typeface="Times New Roman" panose="02020603050405020304" pitchFamily="18" charset="0"/>
                <a:ea typeface="Cambria" panose="02040503050406030204" pitchFamily="18" charset="0"/>
                <a:cs typeface="Times New Roman" panose="02020603050405020304" pitchFamily="18" charset="0"/>
              </a:rPr>
              <a:t> Minimum 8 GB (recommended 16 GB for ML/DL training)</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	3. Storage:</a:t>
            </a:r>
            <a:r>
              <a:rPr lang="en-IN" dirty="0">
                <a:latin typeface="Times New Roman" panose="02020603050405020304" pitchFamily="18" charset="0"/>
                <a:ea typeface="Cambria" panose="02040503050406030204" pitchFamily="18" charset="0"/>
                <a:cs typeface="Times New Roman" panose="02020603050405020304" pitchFamily="18" charset="0"/>
              </a:rPr>
              <a:t> 250 GB SSD or higher</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	4. GPU : </a:t>
            </a:r>
            <a:r>
              <a:rPr lang="en-IN" dirty="0">
                <a:latin typeface="Times New Roman" panose="02020603050405020304" pitchFamily="18" charset="0"/>
                <a:ea typeface="Cambria" panose="02040503050406030204" pitchFamily="18" charset="0"/>
                <a:cs typeface="Times New Roman" panose="02020603050405020304" pitchFamily="18" charset="0"/>
              </a:rPr>
              <a:t>NVIDIA CUDA-enabled GPU for deep learning models</a:t>
            </a:r>
          </a:p>
          <a:p>
            <a:pPr marL="342900" lvl="0" indent="-190500" algn="just">
              <a:lnSpc>
                <a:spcPct val="200000"/>
              </a:lnSpc>
              <a:spcBef>
                <a:spcPts val="0"/>
              </a:spcBef>
              <a:buSzPct val="100000"/>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SzPct val="100000"/>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80631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2D385-1D7D-0D5B-636D-9478C12B25E1}"/>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Software Requirements</a:t>
            </a:r>
            <a:endParaRPr lang="en-IN" dirty="0"/>
          </a:p>
        </p:txBody>
      </p:sp>
      <p:sp>
        <p:nvSpPr>
          <p:cNvPr id="3" name="Text Placeholder 2">
            <a:extLst>
              <a:ext uri="{FF2B5EF4-FFF2-40B4-BE49-F238E27FC236}">
                <a16:creationId xmlns:a16="http://schemas.microsoft.com/office/drawing/2014/main" id="{56E5A7FD-BA06-1334-71C9-6C895C2C6F10}"/>
              </a:ext>
            </a:extLst>
          </p:cNvPr>
          <p:cNvSpPr>
            <a:spLocks noGrp="1"/>
          </p:cNvSpPr>
          <p:nvPr>
            <p:ph type="body" idx="1"/>
          </p:nvPr>
        </p:nvSpPr>
        <p:spPr/>
        <p:txBody>
          <a:bodyPr>
            <a:normAutofit/>
          </a:bodyPr>
          <a:lstStyle/>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1. Operating System:</a:t>
            </a:r>
            <a:r>
              <a:rPr lang="en-IN" dirty="0">
                <a:latin typeface="Times New Roman" panose="02020603050405020304" pitchFamily="18" charset="0"/>
                <a:ea typeface="Cambria" panose="02040503050406030204" pitchFamily="18" charset="0"/>
                <a:cs typeface="Times New Roman" panose="02020603050405020304" pitchFamily="18" charset="0"/>
              </a:rPr>
              <a:t> Windows 10/11 or Linux (Ubuntu preferred for ML/DL)</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2. Programming Language:</a:t>
            </a:r>
            <a:r>
              <a:rPr lang="en-IN" dirty="0">
                <a:latin typeface="Times New Roman" panose="02020603050405020304" pitchFamily="18" charset="0"/>
                <a:ea typeface="Cambria" panose="02040503050406030204" pitchFamily="18" charset="0"/>
                <a:cs typeface="Times New Roman" panose="02020603050405020304" pitchFamily="18" charset="0"/>
              </a:rPr>
              <a:t> Python 3.8+</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3. Libraries/Frameworks:</a:t>
            </a: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lvl="1">
              <a:buFont typeface="Arial" panose="020B0604020202020204" pitchFamily="34" charset="0"/>
              <a:buChar char="•"/>
            </a:pPr>
            <a:r>
              <a:rPr lang="en-IN" sz="2400" dirty="0">
                <a:latin typeface="Times New Roman" panose="02020603050405020304" pitchFamily="18" charset="0"/>
                <a:ea typeface="Cambria" panose="02040503050406030204" pitchFamily="18" charset="0"/>
                <a:cs typeface="Times New Roman" panose="02020603050405020304" pitchFamily="18" charset="0"/>
              </a:rPr>
              <a:t>Scikit-learn, TensorFlow / </a:t>
            </a:r>
            <a:r>
              <a:rPr lang="en-IN" sz="2400" dirty="0" err="1">
                <a:latin typeface="Times New Roman" panose="02020603050405020304" pitchFamily="18" charset="0"/>
                <a:ea typeface="Cambria" panose="02040503050406030204" pitchFamily="18" charset="0"/>
                <a:cs typeface="Times New Roman" panose="02020603050405020304" pitchFamily="18" charset="0"/>
              </a:rPr>
              <a:t>PyTorch</a:t>
            </a:r>
            <a:r>
              <a:rPr lang="en-IN" sz="2400" dirty="0">
                <a:latin typeface="Times New Roman" panose="02020603050405020304" pitchFamily="18" charset="0"/>
                <a:ea typeface="Cambria" panose="02040503050406030204" pitchFamily="18" charset="0"/>
                <a:cs typeface="Times New Roman" panose="02020603050405020304" pitchFamily="18" charset="0"/>
              </a:rPr>
              <a:t>, Pandas, NumPy, Matplotlib</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4. Tools:</a:t>
            </a:r>
            <a:endParaRPr lang="en-IN" dirty="0">
              <a:latin typeface="Times New Roman" panose="02020603050405020304" pitchFamily="18" charset="0"/>
              <a:ea typeface="Cambria" panose="02040503050406030204" pitchFamily="18" charset="0"/>
              <a:cs typeface="Times New Roman" panose="02020603050405020304" pitchFamily="18" charset="0"/>
            </a:endParaRPr>
          </a:p>
          <a:p>
            <a:pPr lvl="1">
              <a:buFont typeface="Arial" panose="020B0604020202020204" pitchFamily="34" charset="0"/>
              <a:buChar char="•"/>
            </a:pPr>
            <a:r>
              <a:rPr lang="en-IN" sz="2400" dirty="0">
                <a:latin typeface="Times New Roman" panose="02020603050405020304" pitchFamily="18" charset="0"/>
                <a:ea typeface="Cambria" panose="02040503050406030204" pitchFamily="18" charset="0"/>
                <a:cs typeface="Times New Roman" panose="02020603050405020304" pitchFamily="18" charset="0"/>
              </a:rPr>
              <a:t>Android Studio (for APK analysis)</a:t>
            </a:r>
          </a:p>
          <a:p>
            <a:pPr lvl="1">
              <a:buFont typeface="Arial" panose="020B0604020202020204" pitchFamily="34" charset="0"/>
              <a:buChar char="•"/>
            </a:pPr>
            <a:r>
              <a:rPr lang="en-IN" sz="2400" dirty="0" err="1">
                <a:latin typeface="Times New Roman" panose="02020603050405020304" pitchFamily="18" charset="0"/>
                <a:ea typeface="Cambria" panose="02040503050406030204" pitchFamily="18" charset="0"/>
                <a:cs typeface="Times New Roman" panose="02020603050405020304" pitchFamily="18" charset="0"/>
              </a:rPr>
              <a:t>APKTool</a:t>
            </a:r>
            <a:r>
              <a:rPr lang="en-IN" sz="2400" dirty="0">
                <a:latin typeface="Times New Roman" panose="02020603050405020304" pitchFamily="18" charset="0"/>
                <a:ea typeface="Cambria" panose="02040503050406030204" pitchFamily="18" charset="0"/>
                <a:cs typeface="Times New Roman" panose="02020603050405020304" pitchFamily="18" charset="0"/>
              </a:rPr>
              <a:t> / </a:t>
            </a:r>
            <a:r>
              <a:rPr lang="en-IN" sz="2400" dirty="0" err="1">
                <a:latin typeface="Times New Roman" panose="02020603050405020304" pitchFamily="18" charset="0"/>
                <a:ea typeface="Cambria" panose="02040503050406030204" pitchFamily="18" charset="0"/>
                <a:cs typeface="Times New Roman" panose="02020603050405020304" pitchFamily="18" charset="0"/>
              </a:rPr>
              <a:t>MobSF</a:t>
            </a:r>
            <a:r>
              <a:rPr lang="en-IN" sz="2400" dirty="0">
                <a:latin typeface="Times New Roman" panose="02020603050405020304" pitchFamily="18" charset="0"/>
                <a:ea typeface="Cambria" panose="02040503050406030204" pitchFamily="18" charset="0"/>
                <a:cs typeface="Times New Roman" panose="02020603050405020304" pitchFamily="18" charset="0"/>
              </a:rPr>
              <a:t> (for static analysis)</a:t>
            </a:r>
          </a:p>
          <a:p>
            <a:pPr lvl="1">
              <a:buFont typeface="Arial" panose="020B0604020202020204" pitchFamily="34" charset="0"/>
              <a:buChar char="•"/>
            </a:pPr>
            <a:r>
              <a:rPr lang="en-IN" sz="2400" dirty="0">
                <a:latin typeface="Times New Roman" panose="02020603050405020304" pitchFamily="18" charset="0"/>
                <a:ea typeface="Cambria" panose="02040503050406030204" pitchFamily="18" charset="0"/>
                <a:cs typeface="Times New Roman" panose="02020603050405020304" pitchFamily="18" charset="0"/>
              </a:rPr>
              <a:t>Wireshark / Frida (for dynamic analysis, if included)</a:t>
            </a:r>
          </a:p>
          <a:p>
            <a:pPr lvl="1">
              <a:buFont typeface="Arial" panose="020B0604020202020204" pitchFamily="34" charset="0"/>
              <a:buChar char="•"/>
            </a:pPr>
            <a:r>
              <a:rPr lang="en-IN" sz="2400" dirty="0">
                <a:latin typeface="Times New Roman" panose="02020603050405020304" pitchFamily="18" charset="0"/>
                <a:ea typeface="Cambria" panose="02040503050406030204" pitchFamily="18" charset="0"/>
                <a:cs typeface="Times New Roman" panose="02020603050405020304" pitchFamily="18" charset="0"/>
              </a:rPr>
              <a:t>Jupyter Notebook / Google </a:t>
            </a:r>
            <a:r>
              <a:rPr lang="en-IN" sz="2400" dirty="0" err="1">
                <a:latin typeface="Times New Roman" panose="02020603050405020304" pitchFamily="18" charset="0"/>
                <a:ea typeface="Cambria" panose="02040503050406030204" pitchFamily="18" charset="0"/>
                <a:cs typeface="Times New Roman" panose="02020603050405020304" pitchFamily="18" charset="0"/>
              </a:rPr>
              <a:t>Colab</a:t>
            </a:r>
            <a:r>
              <a:rPr lang="en-IN" sz="2400" dirty="0">
                <a:latin typeface="Times New Roman" panose="02020603050405020304" pitchFamily="18" charset="0"/>
                <a:ea typeface="Cambria" panose="02040503050406030204" pitchFamily="18" charset="0"/>
                <a:cs typeface="Times New Roman" panose="02020603050405020304" pitchFamily="18" charset="0"/>
              </a:rPr>
              <a:t> for model development</a:t>
            </a:r>
          </a:p>
          <a:p>
            <a:pPr marL="76200" indent="0">
              <a:buNone/>
            </a:pPr>
            <a:r>
              <a:rPr lang="en-IN" b="1" dirty="0">
                <a:latin typeface="Times New Roman" panose="02020603050405020304" pitchFamily="18" charset="0"/>
                <a:ea typeface="Cambria" panose="02040503050406030204" pitchFamily="18" charset="0"/>
                <a:cs typeface="Times New Roman" panose="02020603050405020304" pitchFamily="18" charset="0"/>
              </a:rPr>
              <a:t>5. Version Control:</a:t>
            </a:r>
            <a:r>
              <a:rPr lang="en-IN" dirty="0">
                <a:latin typeface="Times New Roman" panose="02020603050405020304" pitchFamily="18" charset="0"/>
                <a:ea typeface="Cambria" panose="02040503050406030204" pitchFamily="18" charset="0"/>
                <a:cs typeface="Times New Roman" panose="02020603050405020304" pitchFamily="18" charset="0"/>
              </a:rPr>
              <a:t>  GitHub</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576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50EEC-7E44-6E35-EE58-76EBB5DF0C79}"/>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Timeline</a:t>
            </a:r>
            <a:endParaRPr lang="en-IN" dirty="0"/>
          </a:p>
        </p:txBody>
      </p:sp>
      <p:graphicFrame>
        <p:nvGraphicFramePr>
          <p:cNvPr id="4" name="Table 3">
            <a:extLst>
              <a:ext uri="{FF2B5EF4-FFF2-40B4-BE49-F238E27FC236}">
                <a16:creationId xmlns:a16="http://schemas.microsoft.com/office/drawing/2014/main" id="{32E5396A-99EF-9AC9-AE48-F4E3475D0E72}"/>
              </a:ext>
            </a:extLst>
          </p:cNvPr>
          <p:cNvGraphicFramePr>
            <a:graphicFrameLocks noGrp="1"/>
          </p:cNvGraphicFramePr>
          <p:nvPr>
            <p:extLst>
              <p:ext uri="{D42A27DB-BD31-4B8C-83A1-F6EECF244321}">
                <p14:modId xmlns:p14="http://schemas.microsoft.com/office/powerpoint/2010/main" val="2475969254"/>
              </p:ext>
            </p:extLst>
          </p:nvPr>
        </p:nvGraphicFramePr>
        <p:xfrm>
          <a:off x="631596" y="1341512"/>
          <a:ext cx="10849204" cy="3720685"/>
        </p:xfrm>
        <a:graphic>
          <a:graphicData uri="http://schemas.openxmlformats.org/drawingml/2006/table">
            <a:tbl>
              <a:tblPr/>
              <a:tblGrid>
                <a:gridCol w="3737204">
                  <a:extLst>
                    <a:ext uri="{9D8B030D-6E8A-4147-A177-3AD203B41FA5}">
                      <a16:colId xmlns:a16="http://schemas.microsoft.com/office/drawing/2014/main" val="3757550460"/>
                    </a:ext>
                  </a:extLst>
                </a:gridCol>
                <a:gridCol w="3556000">
                  <a:extLst>
                    <a:ext uri="{9D8B030D-6E8A-4147-A177-3AD203B41FA5}">
                      <a16:colId xmlns:a16="http://schemas.microsoft.com/office/drawing/2014/main" val="2984043545"/>
                    </a:ext>
                  </a:extLst>
                </a:gridCol>
                <a:gridCol w="3556000">
                  <a:extLst>
                    <a:ext uri="{9D8B030D-6E8A-4147-A177-3AD203B41FA5}">
                      <a16:colId xmlns:a16="http://schemas.microsoft.com/office/drawing/2014/main" val="2305010438"/>
                    </a:ext>
                  </a:extLst>
                </a:gridCol>
              </a:tblGrid>
              <a:tr h="427665">
                <a:tc>
                  <a:txBody>
                    <a:bodyPr/>
                    <a:lstStyle/>
                    <a:p>
                      <a:pPr>
                        <a:buNone/>
                      </a:pPr>
                      <a:r>
                        <a:rPr lang="en-IN" b="1" dirty="0"/>
                        <a:t>Phase</a:t>
                      </a:r>
                      <a:endParaRPr lang="en-IN" dirty="0"/>
                    </a:p>
                  </a:txBody>
                  <a:tcPr anchor="ctr">
                    <a:lnL>
                      <a:noFill/>
                    </a:lnL>
                    <a:lnR>
                      <a:noFill/>
                    </a:lnR>
                    <a:lnT>
                      <a:noFill/>
                    </a:lnT>
                    <a:lnB>
                      <a:noFill/>
                    </a:lnB>
                    <a:noFill/>
                  </a:tcPr>
                </a:tc>
                <a:tc>
                  <a:txBody>
                    <a:bodyPr/>
                    <a:lstStyle/>
                    <a:p>
                      <a:pPr>
                        <a:buNone/>
                      </a:pPr>
                      <a:r>
                        <a:rPr lang="en-US" b="1" dirty="0"/>
                        <a:t>D</a:t>
                      </a:r>
                      <a:r>
                        <a:rPr lang="en-IN" b="1" dirty="0"/>
                        <a:t>ay</a:t>
                      </a:r>
                      <a:endParaRPr lang="en-IN" dirty="0"/>
                    </a:p>
                  </a:txBody>
                  <a:tcPr anchor="ctr">
                    <a:lnL>
                      <a:noFill/>
                    </a:lnL>
                    <a:lnR>
                      <a:noFill/>
                    </a:lnR>
                    <a:lnT>
                      <a:noFill/>
                    </a:lnT>
                    <a:lnB>
                      <a:noFill/>
                    </a:lnB>
                    <a:noFill/>
                  </a:tcPr>
                </a:tc>
                <a:tc>
                  <a:txBody>
                    <a:bodyPr/>
                    <a:lstStyle/>
                    <a:p>
                      <a:pPr>
                        <a:buNone/>
                      </a:pPr>
                      <a:r>
                        <a:rPr lang="en-IN" b="1"/>
                        <a:t>Activities</a:t>
                      </a:r>
                      <a:endParaRPr lang="en-IN"/>
                    </a:p>
                  </a:txBody>
                  <a:tcPr anchor="ctr">
                    <a:lnL>
                      <a:noFill/>
                    </a:lnL>
                    <a:lnR>
                      <a:noFill/>
                    </a:lnR>
                    <a:lnT>
                      <a:noFill/>
                    </a:lnT>
                    <a:lnB>
                      <a:noFill/>
                    </a:lnB>
                    <a:noFill/>
                  </a:tcPr>
                </a:tc>
                <a:extLst>
                  <a:ext uri="{0D108BD9-81ED-4DB2-BD59-A6C34878D82A}">
                    <a16:rowId xmlns:a16="http://schemas.microsoft.com/office/drawing/2014/main" val="105741235"/>
                  </a:ext>
                </a:extLst>
              </a:tr>
              <a:tr h="427665">
                <a:tc>
                  <a:txBody>
                    <a:bodyPr/>
                    <a:lstStyle/>
                    <a:p>
                      <a:pPr>
                        <a:buNone/>
                      </a:pPr>
                      <a:r>
                        <a:rPr lang="en-IN" dirty="0"/>
                        <a:t>Dataset Collection &amp; Literature Study</a:t>
                      </a:r>
                    </a:p>
                  </a:txBody>
                  <a:tcPr anchor="ctr">
                    <a:lnL>
                      <a:noFill/>
                    </a:lnL>
                    <a:lnR>
                      <a:noFill/>
                    </a:lnR>
                    <a:lnT>
                      <a:noFill/>
                    </a:lnT>
                    <a:lnB>
                      <a:noFill/>
                    </a:lnB>
                    <a:noFill/>
                  </a:tcPr>
                </a:tc>
                <a:tc>
                  <a:txBody>
                    <a:bodyPr/>
                    <a:lstStyle/>
                    <a:p>
                      <a:pPr>
                        <a:buNone/>
                      </a:pPr>
                      <a:r>
                        <a:rPr lang="en-IN"/>
                        <a:t>1–2</a:t>
                      </a:r>
                    </a:p>
                  </a:txBody>
                  <a:tcPr anchor="ctr">
                    <a:lnL>
                      <a:noFill/>
                    </a:lnL>
                    <a:lnR>
                      <a:noFill/>
                    </a:lnR>
                    <a:lnT>
                      <a:noFill/>
                    </a:lnT>
                    <a:lnB>
                      <a:noFill/>
                    </a:lnB>
                    <a:noFill/>
                  </a:tcPr>
                </a:tc>
                <a:tc>
                  <a:txBody>
                    <a:bodyPr/>
                    <a:lstStyle/>
                    <a:p>
                      <a:pPr>
                        <a:buNone/>
                      </a:pPr>
                      <a:r>
                        <a:rPr lang="en-US"/>
                        <a:t>Collect APKs, review research papers</a:t>
                      </a:r>
                    </a:p>
                  </a:txBody>
                  <a:tcPr anchor="ctr">
                    <a:lnL>
                      <a:noFill/>
                    </a:lnL>
                    <a:lnR>
                      <a:noFill/>
                    </a:lnR>
                    <a:lnT>
                      <a:noFill/>
                    </a:lnT>
                    <a:lnB>
                      <a:noFill/>
                    </a:lnB>
                    <a:noFill/>
                  </a:tcPr>
                </a:tc>
                <a:extLst>
                  <a:ext uri="{0D108BD9-81ED-4DB2-BD59-A6C34878D82A}">
                    <a16:rowId xmlns:a16="http://schemas.microsoft.com/office/drawing/2014/main" val="3465887279"/>
                  </a:ext>
                </a:extLst>
              </a:tr>
              <a:tr h="427665">
                <a:tc>
                  <a:txBody>
                    <a:bodyPr/>
                    <a:lstStyle/>
                    <a:p>
                      <a:pPr>
                        <a:buNone/>
                      </a:pPr>
                      <a:r>
                        <a:rPr lang="en-IN" dirty="0"/>
                        <a:t>Static &amp; Dynamic Feature Extraction</a:t>
                      </a:r>
                    </a:p>
                  </a:txBody>
                  <a:tcPr anchor="ctr">
                    <a:lnL>
                      <a:noFill/>
                    </a:lnL>
                    <a:lnR>
                      <a:noFill/>
                    </a:lnR>
                    <a:lnT>
                      <a:noFill/>
                    </a:lnT>
                    <a:lnB>
                      <a:noFill/>
                    </a:lnB>
                    <a:noFill/>
                  </a:tcPr>
                </a:tc>
                <a:tc>
                  <a:txBody>
                    <a:bodyPr/>
                    <a:lstStyle/>
                    <a:p>
                      <a:pPr>
                        <a:buNone/>
                      </a:pPr>
                      <a:r>
                        <a:rPr lang="en-IN"/>
                        <a:t>3–4</a:t>
                      </a:r>
                    </a:p>
                  </a:txBody>
                  <a:tcPr anchor="ctr">
                    <a:lnL>
                      <a:noFill/>
                    </a:lnL>
                    <a:lnR>
                      <a:noFill/>
                    </a:lnR>
                    <a:lnT>
                      <a:noFill/>
                    </a:lnT>
                    <a:lnB>
                      <a:noFill/>
                    </a:lnB>
                    <a:noFill/>
                  </a:tcPr>
                </a:tc>
                <a:tc>
                  <a:txBody>
                    <a:bodyPr/>
                    <a:lstStyle/>
                    <a:p>
                      <a:pPr>
                        <a:buNone/>
                      </a:pPr>
                      <a:r>
                        <a:rPr lang="en-IN"/>
                        <a:t>Use APKTool, DroidBox, Wireshark</a:t>
                      </a:r>
                    </a:p>
                  </a:txBody>
                  <a:tcPr anchor="ctr">
                    <a:lnL>
                      <a:noFill/>
                    </a:lnL>
                    <a:lnR>
                      <a:noFill/>
                    </a:lnR>
                    <a:lnT>
                      <a:noFill/>
                    </a:lnT>
                    <a:lnB>
                      <a:noFill/>
                    </a:lnB>
                    <a:noFill/>
                  </a:tcPr>
                </a:tc>
                <a:extLst>
                  <a:ext uri="{0D108BD9-81ED-4DB2-BD59-A6C34878D82A}">
                    <a16:rowId xmlns:a16="http://schemas.microsoft.com/office/drawing/2014/main" val="4013850671"/>
                  </a:ext>
                </a:extLst>
              </a:tr>
              <a:tr h="427665">
                <a:tc>
                  <a:txBody>
                    <a:bodyPr/>
                    <a:lstStyle/>
                    <a:p>
                      <a:pPr>
                        <a:buNone/>
                      </a:pPr>
                      <a:r>
                        <a:rPr lang="en-IN"/>
                        <a:t>Preprocessing</a:t>
                      </a:r>
                    </a:p>
                  </a:txBody>
                  <a:tcPr anchor="ctr">
                    <a:lnL>
                      <a:noFill/>
                    </a:lnL>
                    <a:lnR>
                      <a:noFill/>
                    </a:lnR>
                    <a:lnT>
                      <a:noFill/>
                    </a:lnT>
                    <a:lnB>
                      <a:noFill/>
                    </a:lnB>
                    <a:noFill/>
                  </a:tcPr>
                </a:tc>
                <a:tc>
                  <a:txBody>
                    <a:bodyPr/>
                    <a:lstStyle/>
                    <a:p>
                      <a:pPr>
                        <a:buNone/>
                      </a:pPr>
                      <a:r>
                        <a:rPr lang="en-IN" dirty="0"/>
                        <a:t>5</a:t>
                      </a:r>
                    </a:p>
                  </a:txBody>
                  <a:tcPr anchor="ctr">
                    <a:lnL>
                      <a:noFill/>
                    </a:lnL>
                    <a:lnR>
                      <a:noFill/>
                    </a:lnR>
                    <a:lnT>
                      <a:noFill/>
                    </a:lnT>
                    <a:lnB>
                      <a:noFill/>
                    </a:lnB>
                    <a:noFill/>
                  </a:tcPr>
                </a:tc>
                <a:tc>
                  <a:txBody>
                    <a:bodyPr/>
                    <a:lstStyle/>
                    <a:p>
                      <a:pPr>
                        <a:buNone/>
                      </a:pPr>
                      <a:r>
                        <a:rPr lang="en-IN"/>
                        <a:t>Feature engineering, normalization</a:t>
                      </a:r>
                    </a:p>
                  </a:txBody>
                  <a:tcPr anchor="ctr">
                    <a:lnL>
                      <a:noFill/>
                    </a:lnL>
                    <a:lnR>
                      <a:noFill/>
                    </a:lnR>
                    <a:lnT>
                      <a:noFill/>
                    </a:lnT>
                    <a:lnB>
                      <a:noFill/>
                    </a:lnB>
                    <a:noFill/>
                  </a:tcPr>
                </a:tc>
                <a:extLst>
                  <a:ext uri="{0D108BD9-81ED-4DB2-BD59-A6C34878D82A}">
                    <a16:rowId xmlns:a16="http://schemas.microsoft.com/office/drawing/2014/main" val="3048232645"/>
                  </a:ext>
                </a:extLst>
              </a:tr>
              <a:tr h="427665">
                <a:tc>
                  <a:txBody>
                    <a:bodyPr/>
                    <a:lstStyle/>
                    <a:p>
                      <a:pPr>
                        <a:buNone/>
                      </a:pPr>
                      <a:r>
                        <a:rPr lang="en-IN" dirty="0"/>
                        <a:t>Model Development</a:t>
                      </a:r>
                    </a:p>
                  </a:txBody>
                  <a:tcPr anchor="ctr">
                    <a:lnL>
                      <a:noFill/>
                    </a:lnL>
                    <a:lnR>
                      <a:noFill/>
                    </a:lnR>
                    <a:lnT>
                      <a:noFill/>
                    </a:lnT>
                    <a:lnB>
                      <a:noFill/>
                    </a:lnB>
                    <a:noFill/>
                  </a:tcPr>
                </a:tc>
                <a:tc>
                  <a:txBody>
                    <a:bodyPr/>
                    <a:lstStyle/>
                    <a:p>
                      <a:pPr>
                        <a:buNone/>
                      </a:pPr>
                      <a:r>
                        <a:rPr lang="en-IN"/>
                        <a:t>6–7</a:t>
                      </a:r>
                    </a:p>
                  </a:txBody>
                  <a:tcPr anchor="ctr">
                    <a:lnL>
                      <a:noFill/>
                    </a:lnL>
                    <a:lnR>
                      <a:noFill/>
                    </a:lnR>
                    <a:lnT>
                      <a:noFill/>
                    </a:lnT>
                    <a:lnB>
                      <a:noFill/>
                    </a:lnB>
                    <a:noFill/>
                  </a:tcPr>
                </a:tc>
                <a:tc>
                  <a:txBody>
                    <a:bodyPr/>
                    <a:lstStyle/>
                    <a:p>
                      <a:pPr>
                        <a:buNone/>
                      </a:pPr>
                      <a:r>
                        <a:rPr lang="en-IN"/>
                        <a:t>Implement CNN-LSTM hybrid model</a:t>
                      </a:r>
                    </a:p>
                  </a:txBody>
                  <a:tcPr anchor="ctr">
                    <a:lnL>
                      <a:noFill/>
                    </a:lnL>
                    <a:lnR>
                      <a:noFill/>
                    </a:lnR>
                    <a:lnT>
                      <a:noFill/>
                    </a:lnT>
                    <a:lnB>
                      <a:noFill/>
                    </a:lnB>
                    <a:noFill/>
                  </a:tcPr>
                </a:tc>
                <a:extLst>
                  <a:ext uri="{0D108BD9-81ED-4DB2-BD59-A6C34878D82A}">
                    <a16:rowId xmlns:a16="http://schemas.microsoft.com/office/drawing/2014/main" val="2961949800"/>
                  </a:ext>
                </a:extLst>
              </a:tr>
              <a:tr h="427665">
                <a:tc>
                  <a:txBody>
                    <a:bodyPr/>
                    <a:lstStyle/>
                    <a:p>
                      <a:pPr>
                        <a:buNone/>
                      </a:pPr>
                      <a:r>
                        <a:rPr lang="en-IN"/>
                        <a:t>Training &amp; Testing</a:t>
                      </a:r>
                    </a:p>
                  </a:txBody>
                  <a:tcPr anchor="ctr">
                    <a:lnL>
                      <a:noFill/>
                    </a:lnL>
                    <a:lnR>
                      <a:noFill/>
                    </a:lnR>
                    <a:lnT>
                      <a:noFill/>
                    </a:lnT>
                    <a:lnB>
                      <a:noFill/>
                    </a:lnB>
                    <a:noFill/>
                  </a:tcPr>
                </a:tc>
                <a:tc>
                  <a:txBody>
                    <a:bodyPr/>
                    <a:lstStyle/>
                    <a:p>
                      <a:pPr>
                        <a:buNone/>
                      </a:pPr>
                      <a:r>
                        <a:rPr lang="en-IN" dirty="0"/>
                        <a:t>8</a:t>
                      </a:r>
                    </a:p>
                  </a:txBody>
                  <a:tcPr anchor="ctr">
                    <a:lnL>
                      <a:noFill/>
                    </a:lnL>
                    <a:lnR>
                      <a:noFill/>
                    </a:lnR>
                    <a:lnT>
                      <a:noFill/>
                    </a:lnT>
                    <a:lnB>
                      <a:noFill/>
                    </a:lnB>
                    <a:noFill/>
                  </a:tcPr>
                </a:tc>
                <a:tc>
                  <a:txBody>
                    <a:bodyPr/>
                    <a:lstStyle/>
                    <a:p>
                      <a:pPr>
                        <a:buNone/>
                      </a:pPr>
                      <a:r>
                        <a:rPr lang="en-US"/>
                        <a:t>Evaluate using accuracy, precision, recall</a:t>
                      </a:r>
                    </a:p>
                  </a:txBody>
                  <a:tcPr anchor="ctr">
                    <a:lnL>
                      <a:noFill/>
                    </a:lnL>
                    <a:lnR>
                      <a:noFill/>
                    </a:lnR>
                    <a:lnT>
                      <a:noFill/>
                    </a:lnT>
                    <a:lnB>
                      <a:noFill/>
                    </a:lnB>
                    <a:noFill/>
                  </a:tcPr>
                </a:tc>
                <a:extLst>
                  <a:ext uri="{0D108BD9-81ED-4DB2-BD59-A6C34878D82A}">
                    <a16:rowId xmlns:a16="http://schemas.microsoft.com/office/drawing/2014/main" val="3916407784"/>
                  </a:ext>
                </a:extLst>
              </a:tr>
              <a:tr h="727030">
                <a:tc>
                  <a:txBody>
                    <a:bodyPr/>
                    <a:lstStyle/>
                    <a:p>
                      <a:pPr>
                        <a:buNone/>
                      </a:pPr>
                      <a:r>
                        <a:rPr lang="en-IN"/>
                        <a:t>Optimization &amp; Fine-Tuning</a:t>
                      </a:r>
                    </a:p>
                  </a:txBody>
                  <a:tcPr anchor="ctr">
                    <a:lnL>
                      <a:noFill/>
                    </a:lnL>
                    <a:lnR>
                      <a:noFill/>
                    </a:lnR>
                    <a:lnT>
                      <a:noFill/>
                    </a:lnT>
                    <a:lnB>
                      <a:noFill/>
                    </a:lnB>
                    <a:noFill/>
                  </a:tcPr>
                </a:tc>
                <a:tc>
                  <a:txBody>
                    <a:bodyPr/>
                    <a:lstStyle/>
                    <a:p>
                      <a:pPr>
                        <a:buNone/>
                      </a:pPr>
                      <a:r>
                        <a:rPr lang="en-IN"/>
                        <a:t>9</a:t>
                      </a:r>
                    </a:p>
                  </a:txBody>
                  <a:tcPr anchor="ctr">
                    <a:lnL>
                      <a:noFill/>
                    </a:lnL>
                    <a:lnR>
                      <a:noFill/>
                    </a:lnR>
                    <a:lnT>
                      <a:noFill/>
                    </a:lnT>
                    <a:lnB>
                      <a:noFill/>
                    </a:lnB>
                    <a:noFill/>
                  </a:tcPr>
                </a:tc>
                <a:tc>
                  <a:txBody>
                    <a:bodyPr/>
                    <a:lstStyle/>
                    <a:p>
                      <a:pPr>
                        <a:buNone/>
                      </a:pPr>
                      <a:r>
                        <a:rPr lang="en-IN"/>
                        <a:t>Hyperparameter tuning, model improvements</a:t>
                      </a:r>
                    </a:p>
                  </a:txBody>
                  <a:tcPr anchor="ctr">
                    <a:lnL>
                      <a:noFill/>
                    </a:lnL>
                    <a:lnR>
                      <a:noFill/>
                    </a:lnR>
                    <a:lnT>
                      <a:noFill/>
                    </a:lnT>
                    <a:lnB>
                      <a:noFill/>
                    </a:lnB>
                    <a:noFill/>
                  </a:tcPr>
                </a:tc>
                <a:extLst>
                  <a:ext uri="{0D108BD9-81ED-4DB2-BD59-A6C34878D82A}">
                    <a16:rowId xmlns:a16="http://schemas.microsoft.com/office/drawing/2014/main" val="336384122"/>
                  </a:ext>
                </a:extLst>
              </a:tr>
              <a:tr h="427665">
                <a:tc>
                  <a:txBody>
                    <a:bodyPr/>
                    <a:lstStyle/>
                    <a:p>
                      <a:pPr>
                        <a:buNone/>
                      </a:pPr>
                      <a:r>
                        <a:rPr lang="en-IN"/>
                        <a:t>Documentation &amp; Review</a:t>
                      </a:r>
                    </a:p>
                  </a:txBody>
                  <a:tcPr anchor="ctr">
                    <a:lnL>
                      <a:noFill/>
                    </a:lnL>
                    <a:lnR>
                      <a:noFill/>
                    </a:lnR>
                    <a:lnT>
                      <a:noFill/>
                    </a:lnT>
                    <a:lnB>
                      <a:noFill/>
                    </a:lnB>
                    <a:noFill/>
                  </a:tcPr>
                </a:tc>
                <a:tc>
                  <a:txBody>
                    <a:bodyPr/>
                    <a:lstStyle/>
                    <a:p>
                      <a:pPr>
                        <a:buNone/>
                      </a:pPr>
                      <a:r>
                        <a:rPr lang="en-IN"/>
                        <a:t>10</a:t>
                      </a:r>
                    </a:p>
                  </a:txBody>
                  <a:tcPr anchor="ctr">
                    <a:lnL>
                      <a:noFill/>
                    </a:lnL>
                    <a:lnR>
                      <a:noFill/>
                    </a:lnR>
                    <a:lnT>
                      <a:noFill/>
                    </a:lnT>
                    <a:lnB>
                      <a:noFill/>
                    </a:lnB>
                    <a:noFill/>
                  </a:tcPr>
                </a:tc>
                <a:tc>
                  <a:txBody>
                    <a:bodyPr/>
                    <a:lstStyle/>
                    <a:p>
                      <a:pPr>
                        <a:buNone/>
                      </a:pPr>
                      <a:r>
                        <a:rPr lang="en-IN" dirty="0"/>
                        <a:t>Prepare report &amp; presentation</a:t>
                      </a:r>
                    </a:p>
                  </a:txBody>
                  <a:tcPr anchor="ctr">
                    <a:lnL>
                      <a:noFill/>
                    </a:lnL>
                    <a:lnR>
                      <a:noFill/>
                    </a:lnR>
                    <a:lnT>
                      <a:noFill/>
                    </a:lnT>
                    <a:lnB>
                      <a:noFill/>
                    </a:lnB>
                    <a:noFill/>
                  </a:tcPr>
                </a:tc>
                <a:extLst>
                  <a:ext uri="{0D108BD9-81ED-4DB2-BD59-A6C34878D82A}">
                    <a16:rowId xmlns:a16="http://schemas.microsoft.com/office/drawing/2014/main" val="2783965109"/>
                  </a:ext>
                </a:extLst>
              </a:tr>
            </a:tbl>
          </a:graphicData>
        </a:graphic>
      </p:graphicFrame>
      <p:pic>
        <p:nvPicPr>
          <p:cNvPr id="11" name="Picture 10">
            <a:extLst>
              <a:ext uri="{FF2B5EF4-FFF2-40B4-BE49-F238E27FC236}">
                <a16:creationId xmlns:a16="http://schemas.microsoft.com/office/drawing/2014/main" id="{64A59060-073C-62D4-8653-61F618412AEB}"/>
              </a:ext>
            </a:extLst>
          </p:cNvPr>
          <p:cNvPicPr>
            <a:picLocks noChangeAspect="1"/>
          </p:cNvPicPr>
          <p:nvPr/>
        </p:nvPicPr>
        <p:blipFill>
          <a:blip r:embed="rId2"/>
          <a:stretch>
            <a:fillRect/>
          </a:stretch>
        </p:blipFill>
        <p:spPr>
          <a:xfrm>
            <a:off x="711200" y="1113601"/>
            <a:ext cx="10769600" cy="4877671"/>
          </a:xfrm>
          <a:prstGeom prst="rect">
            <a:avLst/>
          </a:prstGeom>
        </p:spPr>
      </p:pic>
    </p:spTree>
    <p:extLst>
      <p:ext uri="{BB962C8B-B14F-4D97-AF65-F5344CB8AC3E}">
        <p14:creationId xmlns:p14="http://schemas.microsoft.com/office/powerpoint/2010/main" val="21271150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5267226"/>
          </a:xfrm>
          <a:prstGeom prst="rect">
            <a:avLst/>
          </a:prstGeom>
          <a:noFill/>
          <a:ln>
            <a:noFill/>
          </a:ln>
        </p:spPr>
        <p:txBody>
          <a:bodyPr spcFirstLastPara="1" wrap="square" lIns="91425" tIns="45700" rIns="91425" bIns="45700" anchor="t" anchorCtr="0">
            <a:normAutofit fontScale="85000" lnSpcReduction="20000"/>
          </a:bodyPr>
          <a:lstStyle/>
          <a:p>
            <a:pPr marL="152400" indent="0">
              <a:spcBef>
                <a:spcPts val="0"/>
              </a:spcBef>
              <a:buNone/>
            </a:pPr>
            <a:r>
              <a:rPr lang="en-IN" dirty="0">
                <a:latin typeface="Times New Roman" panose="02020603050405020304" pitchFamily="18" charset="0"/>
                <a:cs typeface="Times New Roman" panose="02020603050405020304" pitchFamily="18" charset="0"/>
              </a:rPr>
              <a:t>[1] W. Enck et al., “</a:t>
            </a:r>
            <a:r>
              <a:rPr lang="en-IN" dirty="0" err="1">
                <a:latin typeface="Times New Roman" panose="02020603050405020304" pitchFamily="18" charset="0"/>
                <a:cs typeface="Times New Roman" panose="02020603050405020304" pitchFamily="18" charset="0"/>
              </a:rPr>
              <a:t>TaintDroid</a:t>
            </a:r>
            <a:r>
              <a:rPr lang="en-IN" dirty="0">
                <a:latin typeface="Times New Roman" panose="02020603050405020304" pitchFamily="18" charset="0"/>
                <a:cs typeface="Times New Roman" panose="02020603050405020304" pitchFamily="18" charset="0"/>
              </a:rPr>
              <a:t>: An Information-Flow Tracking System for Real-Time Privacy Monitoring on Smartphones,” </a:t>
            </a:r>
            <a:r>
              <a:rPr lang="en-IN" i="1" dirty="0">
                <a:latin typeface="Times New Roman" panose="02020603050405020304" pitchFamily="18" charset="0"/>
                <a:cs typeface="Times New Roman" panose="02020603050405020304" pitchFamily="18" charset="0"/>
              </a:rPr>
              <a:t>OSDI</a:t>
            </a:r>
            <a:r>
              <a:rPr lang="en-IN" dirty="0">
                <a:latin typeface="Times New Roman" panose="02020603050405020304" pitchFamily="18" charset="0"/>
                <a:cs typeface="Times New Roman" panose="02020603050405020304" pitchFamily="18" charset="0"/>
              </a:rPr>
              <a:t>, 2010.</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[2] S. Arzt et al., “</a:t>
            </a:r>
            <a:r>
              <a:rPr lang="en-IN" dirty="0" err="1">
                <a:latin typeface="Times New Roman" panose="02020603050405020304" pitchFamily="18" charset="0"/>
                <a:cs typeface="Times New Roman" panose="02020603050405020304" pitchFamily="18" charset="0"/>
              </a:rPr>
              <a:t>FlowDroid</a:t>
            </a:r>
            <a:r>
              <a:rPr lang="en-IN" dirty="0">
                <a:latin typeface="Times New Roman" panose="02020603050405020304" pitchFamily="18" charset="0"/>
                <a:cs typeface="Times New Roman" panose="02020603050405020304" pitchFamily="18" charset="0"/>
              </a:rPr>
              <a:t>: Precise Context, Flow, Field, Object-sensitive and Lifecycle-aware Taint Analysis for Android Apps,” </a:t>
            </a:r>
            <a:r>
              <a:rPr lang="en-IN" i="1" dirty="0">
                <a:latin typeface="Times New Roman" panose="02020603050405020304" pitchFamily="18" charset="0"/>
                <a:cs typeface="Times New Roman" panose="02020603050405020304" pitchFamily="18" charset="0"/>
              </a:rPr>
              <a:t>PLDI</a:t>
            </a:r>
            <a:r>
              <a:rPr lang="en-IN" dirty="0">
                <a:latin typeface="Times New Roman" panose="02020603050405020304" pitchFamily="18" charset="0"/>
                <a:cs typeface="Times New Roman" panose="02020603050405020304" pitchFamily="18" charset="0"/>
              </a:rPr>
              <a:t>, 2014.</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[3] D. Arp et al., “DREBIN: Effective and Explainable Detection of Android Malware in Your Pocket,” </a:t>
            </a:r>
            <a:r>
              <a:rPr lang="en-IN" i="1" dirty="0">
                <a:latin typeface="Times New Roman" panose="02020603050405020304" pitchFamily="18" charset="0"/>
                <a:cs typeface="Times New Roman" panose="02020603050405020304" pitchFamily="18" charset="0"/>
              </a:rPr>
              <a:t>NDSS</a:t>
            </a:r>
            <a:r>
              <a:rPr lang="en-IN" dirty="0">
                <a:latin typeface="Times New Roman" panose="02020603050405020304" pitchFamily="18" charset="0"/>
                <a:cs typeface="Times New Roman" panose="02020603050405020304" pitchFamily="18" charset="0"/>
              </a:rPr>
              <a:t>, 2014.</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[4] E. </a:t>
            </a:r>
            <a:r>
              <a:rPr lang="en-IN" dirty="0" err="1">
                <a:latin typeface="Times New Roman" panose="02020603050405020304" pitchFamily="18" charset="0"/>
                <a:cs typeface="Times New Roman" panose="02020603050405020304" pitchFamily="18" charset="0"/>
              </a:rPr>
              <a:t>Mariconti</a:t>
            </a:r>
            <a:r>
              <a:rPr lang="en-IN" dirty="0">
                <a:latin typeface="Times New Roman" panose="02020603050405020304" pitchFamily="18" charset="0"/>
                <a:cs typeface="Times New Roman" panose="02020603050405020304" pitchFamily="18" charset="0"/>
              </a:rPr>
              <a:t> et al., “</a:t>
            </a:r>
            <a:r>
              <a:rPr lang="en-IN" dirty="0" err="1">
                <a:latin typeface="Times New Roman" panose="02020603050405020304" pitchFamily="18" charset="0"/>
                <a:cs typeface="Times New Roman" panose="02020603050405020304" pitchFamily="18" charset="0"/>
              </a:rPr>
              <a:t>MaMaDroid</a:t>
            </a:r>
            <a:r>
              <a:rPr lang="en-IN" dirty="0">
                <a:latin typeface="Times New Roman" panose="02020603050405020304" pitchFamily="18" charset="0"/>
                <a:cs typeface="Times New Roman" panose="02020603050405020304" pitchFamily="18" charset="0"/>
              </a:rPr>
              <a:t>: Detecting Android Malware by Building Markov Chains of </a:t>
            </a:r>
            <a:r>
              <a:rPr lang="en-IN" dirty="0" err="1">
                <a:latin typeface="Times New Roman" panose="02020603050405020304" pitchFamily="18" charset="0"/>
                <a:cs typeface="Times New Roman" panose="02020603050405020304" pitchFamily="18" charset="0"/>
              </a:rPr>
              <a:t>Behavioral</a:t>
            </a:r>
            <a:r>
              <a:rPr lang="en-IN" dirty="0">
                <a:latin typeface="Times New Roman" panose="02020603050405020304" pitchFamily="18" charset="0"/>
                <a:cs typeface="Times New Roman" panose="02020603050405020304" pitchFamily="18" charset="0"/>
              </a:rPr>
              <a:t> Models,” </a:t>
            </a:r>
            <a:r>
              <a:rPr lang="en-IN" i="1" dirty="0">
                <a:latin typeface="Times New Roman" panose="02020603050405020304" pitchFamily="18" charset="0"/>
                <a:cs typeface="Times New Roman" panose="02020603050405020304" pitchFamily="18" charset="0"/>
              </a:rPr>
              <a:t>NDSS</a:t>
            </a:r>
            <a:r>
              <a:rPr lang="en-IN" dirty="0">
                <a:latin typeface="Times New Roman" panose="02020603050405020304" pitchFamily="18" charset="0"/>
                <a:cs typeface="Times New Roman" panose="02020603050405020304" pitchFamily="18" charset="0"/>
              </a:rPr>
              <a:t>, 2017.</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[5] K. Allix et al., “</a:t>
            </a:r>
            <a:r>
              <a:rPr lang="en-IN" dirty="0" err="1">
                <a:latin typeface="Times New Roman" panose="02020603050405020304" pitchFamily="18" charset="0"/>
                <a:cs typeface="Times New Roman" panose="02020603050405020304" pitchFamily="18" charset="0"/>
              </a:rPr>
              <a:t>AndroZoo</a:t>
            </a:r>
            <a:r>
              <a:rPr lang="en-IN" dirty="0">
                <a:latin typeface="Times New Roman" panose="02020603050405020304" pitchFamily="18" charset="0"/>
                <a:cs typeface="Times New Roman" panose="02020603050405020304" pitchFamily="18" charset="0"/>
              </a:rPr>
              <a:t>: Collecting Millions of Android Apps for the Research Community,” </a:t>
            </a:r>
            <a:r>
              <a:rPr lang="en-IN" i="1" dirty="0">
                <a:latin typeface="Times New Roman" panose="02020603050405020304" pitchFamily="18" charset="0"/>
                <a:cs typeface="Times New Roman" panose="02020603050405020304" pitchFamily="18" charset="0"/>
              </a:rPr>
              <a:t>MSR</a:t>
            </a:r>
            <a:r>
              <a:rPr lang="en-IN" dirty="0">
                <a:latin typeface="Times New Roman" panose="02020603050405020304" pitchFamily="18" charset="0"/>
                <a:cs typeface="Times New Roman" panose="02020603050405020304" pitchFamily="18" charset="0"/>
              </a:rPr>
              <a:t>, 2016.</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[6] F. Wei et al., “Deep Ground Truth Analysis of Current Android Malware (AMD Dataset),” 2017.</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[7] S. Rastogi et al., “</a:t>
            </a:r>
            <a:r>
              <a:rPr lang="en-IN" dirty="0" err="1">
                <a:latin typeface="Times New Roman" panose="02020603050405020304" pitchFamily="18" charset="0"/>
                <a:cs typeface="Times New Roman" panose="02020603050405020304" pitchFamily="18" charset="0"/>
              </a:rPr>
              <a:t>DroidBox</a:t>
            </a:r>
            <a:r>
              <a:rPr lang="en-IN" dirty="0">
                <a:latin typeface="Times New Roman" panose="02020603050405020304" pitchFamily="18" charset="0"/>
                <a:cs typeface="Times New Roman" panose="02020603050405020304" pitchFamily="18" charset="0"/>
              </a:rPr>
              <a:t>: Android Application Sandbox,” 2013; and extensions in </a:t>
            </a:r>
            <a:r>
              <a:rPr lang="en-IN" dirty="0" err="1">
                <a:latin typeface="Times New Roman" panose="02020603050405020304" pitchFamily="18" charset="0"/>
                <a:cs typeface="Times New Roman" panose="02020603050405020304" pitchFamily="18" charset="0"/>
              </a:rPr>
              <a:t>CuckooDroid</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[8] Y. Hei et al., “HAWK: Android Malware Detection with Heterogeneous Graph Attention Networks,” 2021.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[9] X. Chen et al., “Android HIV: A Study of Repackaging Malware for Evading Machine-Learning Detection,” 2018.</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[10] M. </a:t>
            </a:r>
            <a:r>
              <a:rPr lang="en-IN" dirty="0" err="1">
                <a:latin typeface="Times New Roman" panose="02020603050405020304" pitchFamily="18" charset="0"/>
                <a:cs typeface="Times New Roman" panose="02020603050405020304" pitchFamily="18" charset="0"/>
              </a:rPr>
              <a:t>Sharafaldin</a:t>
            </a:r>
            <a:r>
              <a:rPr lang="en-IN" dirty="0">
                <a:latin typeface="Times New Roman" panose="02020603050405020304" pitchFamily="18" charset="0"/>
                <a:cs typeface="Times New Roman" panose="02020603050405020304" pitchFamily="18" charset="0"/>
              </a:rPr>
              <a:t> et al., “CICAndMal2020: A Dataset for Android Malware Detection,” </a:t>
            </a:r>
            <a:r>
              <a:rPr lang="en-IN" i="1" dirty="0">
                <a:latin typeface="Times New Roman" panose="02020603050405020304" pitchFamily="18" charset="0"/>
                <a:cs typeface="Times New Roman" panose="02020603050405020304" pitchFamily="18" charset="0"/>
              </a:rPr>
              <a:t>CIC Lab</a:t>
            </a:r>
            <a:r>
              <a:rPr lang="en-IN" dirty="0">
                <a:latin typeface="Times New Roman" panose="02020603050405020304" pitchFamily="18" charset="0"/>
                <a:cs typeface="Times New Roman" panose="02020603050405020304" pitchFamily="18" charset="0"/>
              </a:rPr>
              <a:t>, 2020.</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333</TotalTime>
  <Words>2109</Words>
  <Application>Microsoft Office PowerPoint</Application>
  <PresentationFormat>Widescreen</PresentationFormat>
  <Paragraphs>129</Paragraphs>
  <Slides>17</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Cambria</vt:lpstr>
      <vt:lpstr>Times New Roman</vt:lpstr>
      <vt:lpstr>Verdana</vt:lpstr>
      <vt:lpstr>Wingdings</vt:lpstr>
      <vt:lpstr>Bioinformatics</vt:lpstr>
      <vt:lpstr>Analysis and identification of malicious mobile applications</vt:lpstr>
      <vt:lpstr>Problem Statement Number: 68</vt:lpstr>
      <vt:lpstr>Content</vt:lpstr>
      <vt:lpstr>Abstract</vt:lpstr>
      <vt:lpstr>Literature Survey</vt:lpstr>
      <vt:lpstr>PowerPoint Presentation</vt:lpstr>
      <vt:lpstr>Objectives</vt:lpstr>
      <vt:lpstr>Existing Methods and Drawbacks</vt:lpstr>
      <vt:lpstr>Proposed Method Feasibility Study</vt:lpstr>
      <vt:lpstr>Feasibility Study</vt:lpstr>
      <vt:lpstr>Architecture Diagram</vt:lpstr>
      <vt:lpstr>Modules</vt:lpstr>
      <vt:lpstr>Hardware details </vt:lpstr>
      <vt:lpstr>Software Requirements</vt:lpstr>
      <vt:lpstr>Timeline</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Guest User</cp:lastModifiedBy>
  <cp:revision>41</cp:revision>
  <dcterms:modified xsi:type="dcterms:W3CDTF">2025-09-09T16:27:34Z</dcterms:modified>
</cp:coreProperties>
</file>