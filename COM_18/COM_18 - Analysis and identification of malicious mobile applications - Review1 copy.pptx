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9" r:id="rId3"/>
    <p:sldId id="257" r:id="rId4"/>
    <p:sldId id="273" r:id="rId5"/>
    <p:sldId id="268" r:id="rId6"/>
    <p:sldId id="272" r:id="rId7"/>
    <p:sldId id="271" r:id="rId8"/>
    <p:sldId id="270" r:id="rId9"/>
    <p:sldId id="274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uest%20User\Downloads\project_timeline_gantt_with_char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Project Timeline - Gantt Chart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Start Month</c:v>
          </c:tx>
          <c:spPr>
            <a:noFill/>
            <a:ln>
              <a:noFill/>
            </a:ln>
          </c:spPr>
          <c:invertIfNegative val="0"/>
          <c:cat>
            <c:strRef>
              <c:f>Timeline!$A$2:$A$8</c:f>
              <c:strCache>
                <c:ptCount val="7"/>
                <c:pt idx="0">
                  <c:v>Literature Survey &amp; Related Work</c:v>
                </c:pt>
                <c:pt idx="1">
                  <c:v>Dataset Collection (Benign &amp; Malware APKs)</c:v>
                </c:pt>
                <c:pt idx="2">
                  <c:v>Feature Extraction (Static &amp; Dynamic)</c:v>
                </c:pt>
                <c:pt idx="3">
                  <c:v>Model Development (ML/DL)</c:v>
                </c:pt>
                <c:pt idx="4">
                  <c:v>Testing &amp; Evaluation</c:v>
                </c:pt>
                <c:pt idx="5">
                  <c:v>Deployment (Prototype / Tool)</c:v>
                </c:pt>
                <c:pt idx="6">
                  <c:v>Documentation &amp; Final Presentation</c:v>
                </c:pt>
              </c:strCache>
            </c:strRef>
          </c:cat>
          <c:val>
            <c:numRef>
              <c:f>Timeline!$B$2:$B$8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E7-4335-A022-0E6711289BD1}"/>
            </c:ext>
          </c:extLst>
        </c:ser>
        <c:ser>
          <c:idx val="1"/>
          <c:order val="1"/>
          <c:tx>
            <c:v>Duration</c:v>
          </c:tx>
          <c:spPr>
            <a:solidFill>
              <a:srgbClr val="4F81BD"/>
            </a:solidFill>
          </c:spPr>
          <c:invertIfNegative val="0"/>
          <c:cat>
            <c:strRef>
              <c:f>Timeline!$A$2:$A$8</c:f>
              <c:strCache>
                <c:ptCount val="7"/>
                <c:pt idx="0">
                  <c:v>Literature Survey &amp; Related Work</c:v>
                </c:pt>
                <c:pt idx="1">
                  <c:v>Dataset Collection (Benign &amp; Malware APKs)</c:v>
                </c:pt>
                <c:pt idx="2">
                  <c:v>Feature Extraction (Static &amp; Dynamic)</c:v>
                </c:pt>
                <c:pt idx="3">
                  <c:v>Model Development (ML/DL)</c:v>
                </c:pt>
                <c:pt idx="4">
                  <c:v>Testing &amp; Evaluation</c:v>
                </c:pt>
                <c:pt idx="5">
                  <c:v>Deployment (Prototype / Tool)</c:v>
                </c:pt>
                <c:pt idx="6">
                  <c:v>Documentation &amp; Final Presentation</c:v>
                </c:pt>
              </c:strCache>
            </c:strRef>
          </c:cat>
          <c:val>
            <c:numRef>
              <c:f>Timeline!$C$2:$C$8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E7-4335-A022-0E6711289B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010001"/>
        <c:axId val="50010002"/>
      </c:barChart>
      <c:catAx>
        <c:axId val="50010001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t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Months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between"/>
        <c:majorUnit val="1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F7BC40-EBD9-4EBB-9DAB-163F42C4A46B}" type="doc">
      <dgm:prSet loTypeId="urn:microsoft.com/office/officeart/2005/8/layout/vList3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A76299C1-046A-4AEE-AA7A-B26487E7AE1D}">
      <dgm:prSet phldrT="[Text]"/>
      <dgm:spPr/>
      <dgm:t>
        <a:bodyPr/>
        <a:lstStyle/>
        <a:p>
          <a:r>
            <a:rPr lang="en-IN" dirty="0"/>
            <a:t>Application Layer</a:t>
          </a:r>
        </a:p>
      </dgm:t>
    </dgm:pt>
    <dgm:pt modelId="{24C8B600-AE3D-4664-B132-80B17B029CA2}" type="parTrans" cxnId="{AC8895B3-3D73-4FD0-9872-A3FFA2C56AFF}">
      <dgm:prSet/>
      <dgm:spPr/>
      <dgm:t>
        <a:bodyPr/>
        <a:lstStyle/>
        <a:p>
          <a:endParaRPr lang="en-IN"/>
        </a:p>
      </dgm:t>
    </dgm:pt>
    <dgm:pt modelId="{EAC719F4-C54D-440C-A309-F0AB4511EF0A}" type="sibTrans" cxnId="{AC8895B3-3D73-4FD0-9872-A3FFA2C56AFF}">
      <dgm:prSet/>
      <dgm:spPr/>
      <dgm:t>
        <a:bodyPr/>
        <a:lstStyle/>
        <a:p>
          <a:endParaRPr lang="en-IN"/>
        </a:p>
      </dgm:t>
    </dgm:pt>
    <dgm:pt modelId="{7DD187DE-0BCC-458F-B7A2-CB0771FC650A}">
      <dgm:prSet phldrT="[Text]"/>
      <dgm:spPr/>
      <dgm:t>
        <a:bodyPr/>
        <a:lstStyle/>
        <a:p>
          <a:r>
            <a:rPr lang="en-IN" dirty="0"/>
            <a:t>Malware detection tool/ prototype</a:t>
          </a:r>
        </a:p>
      </dgm:t>
    </dgm:pt>
    <dgm:pt modelId="{A0387082-AE6E-4333-819A-96AC2133E9EC}" type="parTrans" cxnId="{C9053C4A-B99B-408B-9DCE-4CB873C15D0F}">
      <dgm:prSet/>
      <dgm:spPr/>
      <dgm:t>
        <a:bodyPr/>
        <a:lstStyle/>
        <a:p>
          <a:endParaRPr lang="en-IN"/>
        </a:p>
      </dgm:t>
    </dgm:pt>
    <dgm:pt modelId="{1A74D815-8AFC-4A15-8BA2-24E3BD557C74}" type="sibTrans" cxnId="{C9053C4A-B99B-408B-9DCE-4CB873C15D0F}">
      <dgm:prSet/>
      <dgm:spPr/>
      <dgm:t>
        <a:bodyPr/>
        <a:lstStyle/>
        <a:p>
          <a:endParaRPr lang="en-IN"/>
        </a:p>
      </dgm:t>
    </dgm:pt>
    <dgm:pt modelId="{AF6E16EA-BBAE-4F66-96D3-86C94F3385E6}">
      <dgm:prSet phldrT="[Text]"/>
      <dgm:spPr/>
      <dgm:t>
        <a:bodyPr/>
        <a:lstStyle/>
        <a:p>
          <a:r>
            <a:rPr lang="en-IN" dirty="0"/>
            <a:t>ML/DL Frameworks</a:t>
          </a:r>
        </a:p>
      </dgm:t>
    </dgm:pt>
    <dgm:pt modelId="{0A9B2A0E-7A18-4C04-830F-BD1DE7B5C8AB}" type="parTrans" cxnId="{79440B27-8F50-4E31-BDAD-731854272463}">
      <dgm:prSet/>
      <dgm:spPr/>
      <dgm:t>
        <a:bodyPr/>
        <a:lstStyle/>
        <a:p>
          <a:endParaRPr lang="en-IN"/>
        </a:p>
      </dgm:t>
    </dgm:pt>
    <dgm:pt modelId="{47C04043-65DA-49B4-A8A9-EE9691EA8022}" type="sibTrans" cxnId="{79440B27-8F50-4E31-BDAD-731854272463}">
      <dgm:prSet/>
      <dgm:spPr/>
      <dgm:t>
        <a:bodyPr/>
        <a:lstStyle/>
        <a:p>
          <a:endParaRPr lang="en-IN"/>
        </a:p>
      </dgm:t>
    </dgm:pt>
    <dgm:pt modelId="{606576EB-D88D-4711-B740-6942C5BF6EB2}">
      <dgm:prSet phldrT="[Text]"/>
      <dgm:spPr/>
      <dgm:t>
        <a:bodyPr/>
        <a:lstStyle/>
        <a:p>
          <a:r>
            <a:rPr lang="en-IN" dirty="0"/>
            <a:t>Scikit-learn, TensorFlow, PyTorch, Pandas, NumPy</a:t>
          </a:r>
        </a:p>
      </dgm:t>
    </dgm:pt>
    <dgm:pt modelId="{FF27C1A5-6245-4B1F-B975-F4D7610F2CE6}" type="parTrans" cxnId="{E7BEF98D-A350-425E-9046-A7F8E7B3DE61}">
      <dgm:prSet/>
      <dgm:spPr/>
      <dgm:t>
        <a:bodyPr/>
        <a:lstStyle/>
        <a:p>
          <a:endParaRPr lang="en-IN"/>
        </a:p>
      </dgm:t>
    </dgm:pt>
    <dgm:pt modelId="{82D3CD92-BD46-42C1-8C26-F8AE47F0A2DE}" type="sibTrans" cxnId="{E7BEF98D-A350-425E-9046-A7F8E7B3DE61}">
      <dgm:prSet/>
      <dgm:spPr/>
      <dgm:t>
        <a:bodyPr/>
        <a:lstStyle/>
        <a:p>
          <a:endParaRPr lang="en-IN"/>
        </a:p>
      </dgm:t>
    </dgm:pt>
    <dgm:pt modelId="{6B5ADFC8-AD3D-4BE5-82DE-434D7EB6134C}">
      <dgm:prSet/>
      <dgm:spPr/>
      <dgm:t>
        <a:bodyPr/>
        <a:lstStyle/>
        <a:p>
          <a:r>
            <a:rPr lang="en-IN" dirty="0"/>
            <a:t>Development Tools</a:t>
          </a:r>
        </a:p>
      </dgm:t>
    </dgm:pt>
    <dgm:pt modelId="{A21B5226-FAC9-4B80-9FD2-E3105F0D7664}" type="parTrans" cxnId="{F93F127D-55F4-45BF-9AB0-CA89EB7A6037}">
      <dgm:prSet/>
      <dgm:spPr/>
      <dgm:t>
        <a:bodyPr/>
        <a:lstStyle/>
        <a:p>
          <a:endParaRPr lang="en-IN"/>
        </a:p>
      </dgm:t>
    </dgm:pt>
    <dgm:pt modelId="{C3CBE6CA-D988-45A0-A92A-21E390F5FC43}" type="sibTrans" cxnId="{F93F127D-55F4-45BF-9AB0-CA89EB7A6037}">
      <dgm:prSet/>
      <dgm:spPr/>
      <dgm:t>
        <a:bodyPr/>
        <a:lstStyle/>
        <a:p>
          <a:endParaRPr lang="en-IN"/>
        </a:p>
      </dgm:t>
    </dgm:pt>
    <dgm:pt modelId="{A4BD6C54-C195-45A3-A1D8-460B072ABA8B}">
      <dgm:prSet/>
      <dgm:spPr/>
      <dgm:t>
        <a:bodyPr/>
        <a:lstStyle/>
        <a:p>
          <a:r>
            <a:rPr lang="en-IN" dirty="0"/>
            <a:t>Android Studio, Jupyter, GitHub, Docker</a:t>
          </a:r>
        </a:p>
      </dgm:t>
    </dgm:pt>
    <dgm:pt modelId="{43C64772-AB67-49C3-8F8B-EA4BF0F4F992}" type="parTrans" cxnId="{95C19DA1-E122-4CBD-A6EC-BEEC7ACC744B}">
      <dgm:prSet/>
      <dgm:spPr/>
      <dgm:t>
        <a:bodyPr/>
        <a:lstStyle/>
        <a:p>
          <a:endParaRPr lang="en-IN"/>
        </a:p>
      </dgm:t>
    </dgm:pt>
    <dgm:pt modelId="{1E3CD431-EF5E-4CC2-83E9-39B78841EE78}" type="sibTrans" cxnId="{95C19DA1-E122-4CBD-A6EC-BEEC7ACC744B}">
      <dgm:prSet/>
      <dgm:spPr/>
      <dgm:t>
        <a:bodyPr/>
        <a:lstStyle/>
        <a:p>
          <a:endParaRPr lang="en-IN"/>
        </a:p>
      </dgm:t>
    </dgm:pt>
    <dgm:pt modelId="{6AE3DC0B-BED5-4686-8530-6A105224AF96}">
      <dgm:prSet/>
      <dgm:spPr/>
      <dgm:t>
        <a:bodyPr/>
        <a:lstStyle/>
        <a:p>
          <a:r>
            <a:rPr lang="en-IN" dirty="0"/>
            <a:t>Hardware and OS</a:t>
          </a:r>
        </a:p>
      </dgm:t>
    </dgm:pt>
    <dgm:pt modelId="{131A5C10-C5E1-43AF-907E-01EBFFE25520}" type="parTrans" cxnId="{6BE77902-5D00-4A31-9112-081BCA2B4A79}">
      <dgm:prSet/>
      <dgm:spPr/>
      <dgm:t>
        <a:bodyPr/>
        <a:lstStyle/>
        <a:p>
          <a:endParaRPr lang="en-IN"/>
        </a:p>
      </dgm:t>
    </dgm:pt>
    <dgm:pt modelId="{8E2E191A-3FB9-4143-A7DF-871BF3816194}" type="sibTrans" cxnId="{6BE77902-5D00-4A31-9112-081BCA2B4A79}">
      <dgm:prSet/>
      <dgm:spPr/>
      <dgm:t>
        <a:bodyPr/>
        <a:lstStyle/>
        <a:p>
          <a:endParaRPr lang="en-IN"/>
        </a:p>
      </dgm:t>
    </dgm:pt>
    <dgm:pt modelId="{B1D41502-7B73-481D-978E-9E2AB95BEB56}">
      <dgm:prSet/>
      <dgm:spPr/>
      <dgm:t>
        <a:bodyPr/>
        <a:lstStyle/>
        <a:p>
          <a:r>
            <a:rPr lang="en-IN" dirty="0"/>
            <a:t>Windows/Linux</a:t>
          </a:r>
        </a:p>
      </dgm:t>
    </dgm:pt>
    <dgm:pt modelId="{2E297744-6996-4EA5-972E-3FE1BB3B700E}" type="parTrans" cxnId="{C2E5A594-12DD-400B-8999-63159B8EAA22}">
      <dgm:prSet/>
      <dgm:spPr/>
      <dgm:t>
        <a:bodyPr/>
        <a:lstStyle/>
        <a:p>
          <a:endParaRPr lang="en-IN"/>
        </a:p>
      </dgm:t>
    </dgm:pt>
    <dgm:pt modelId="{99D689CA-44C5-4079-9380-A54B2D207B71}" type="sibTrans" cxnId="{C2E5A594-12DD-400B-8999-63159B8EAA22}">
      <dgm:prSet/>
      <dgm:spPr/>
      <dgm:t>
        <a:bodyPr/>
        <a:lstStyle/>
        <a:p>
          <a:endParaRPr lang="en-IN"/>
        </a:p>
      </dgm:t>
    </dgm:pt>
    <dgm:pt modelId="{5E34FCA7-B5C7-4A1D-8C9D-17AD5985DDC2}" type="pres">
      <dgm:prSet presAssocID="{DDF7BC40-EBD9-4EBB-9DAB-163F42C4A46B}" presName="linearFlow" presStyleCnt="0">
        <dgm:presLayoutVars>
          <dgm:dir/>
          <dgm:resizeHandles val="exact"/>
        </dgm:presLayoutVars>
      </dgm:prSet>
      <dgm:spPr/>
    </dgm:pt>
    <dgm:pt modelId="{B974A163-2780-47BD-8D9C-A7150BFCC074}" type="pres">
      <dgm:prSet presAssocID="{A76299C1-046A-4AEE-AA7A-B26487E7AE1D}" presName="composite" presStyleCnt="0"/>
      <dgm:spPr/>
    </dgm:pt>
    <dgm:pt modelId="{E13BF7AE-5772-4303-821F-31AF3BFCD749}" type="pres">
      <dgm:prSet presAssocID="{A76299C1-046A-4AEE-AA7A-B26487E7AE1D}" presName="imgShp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97EE3C4A-323F-4049-8676-D72A644CB99E}" type="pres">
      <dgm:prSet presAssocID="{A76299C1-046A-4AEE-AA7A-B26487E7AE1D}" presName="txShp" presStyleLbl="node1" presStyleIdx="0" presStyleCnt="4">
        <dgm:presLayoutVars>
          <dgm:bulletEnabled val="1"/>
        </dgm:presLayoutVars>
      </dgm:prSet>
      <dgm:spPr/>
    </dgm:pt>
    <dgm:pt modelId="{9E725A5F-8FA2-4570-9C60-3951F1CBC4FA}" type="pres">
      <dgm:prSet presAssocID="{EAC719F4-C54D-440C-A309-F0AB4511EF0A}" presName="spacing" presStyleCnt="0"/>
      <dgm:spPr/>
    </dgm:pt>
    <dgm:pt modelId="{15D390F7-55A9-48DD-85DE-41DEFAE6959C}" type="pres">
      <dgm:prSet presAssocID="{AF6E16EA-BBAE-4F66-96D3-86C94F3385E6}" presName="composite" presStyleCnt="0"/>
      <dgm:spPr/>
    </dgm:pt>
    <dgm:pt modelId="{5620728A-493A-47A5-9B94-4FC2612E828C}" type="pres">
      <dgm:prSet presAssocID="{AF6E16EA-BBAE-4F66-96D3-86C94F3385E6}" presName="imgShp" presStyleLbl="fgImgPlace1" presStyleIdx="1" presStyleCnt="4"/>
      <dgm:spPr>
        <a:blipFill>
          <a:blip xmlns:r="http://schemas.openxmlformats.org/officeDocument/2006/relationships" r:embed="rId2">
            <a:biLevel thresh="75000"/>
          </a:blip>
          <a:srcRect/>
          <a:stretch>
            <a:fillRect/>
          </a:stretch>
        </a:blipFill>
      </dgm:spPr>
    </dgm:pt>
    <dgm:pt modelId="{44D10D09-4F07-465E-A8A7-B79B40A37338}" type="pres">
      <dgm:prSet presAssocID="{AF6E16EA-BBAE-4F66-96D3-86C94F3385E6}" presName="txShp" presStyleLbl="node1" presStyleIdx="1" presStyleCnt="4">
        <dgm:presLayoutVars>
          <dgm:bulletEnabled val="1"/>
        </dgm:presLayoutVars>
      </dgm:prSet>
      <dgm:spPr/>
    </dgm:pt>
    <dgm:pt modelId="{6C01EA62-99E2-4953-B9B8-AC080D274BAD}" type="pres">
      <dgm:prSet presAssocID="{47C04043-65DA-49B4-A8A9-EE9691EA8022}" presName="spacing" presStyleCnt="0"/>
      <dgm:spPr/>
    </dgm:pt>
    <dgm:pt modelId="{DEF0A9D7-CAB2-4F67-A243-C49D01632B77}" type="pres">
      <dgm:prSet presAssocID="{6B5ADFC8-AD3D-4BE5-82DE-434D7EB6134C}" presName="composite" presStyleCnt="0"/>
      <dgm:spPr/>
    </dgm:pt>
    <dgm:pt modelId="{8422F4A2-C777-49F3-9DE8-A59C7808AFD8}" type="pres">
      <dgm:prSet presAssocID="{6B5ADFC8-AD3D-4BE5-82DE-434D7EB6134C}" presName="imgShp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A9CB6540-C917-4E02-97E4-172BEE7F585C}" type="pres">
      <dgm:prSet presAssocID="{6B5ADFC8-AD3D-4BE5-82DE-434D7EB6134C}" presName="txShp" presStyleLbl="node1" presStyleIdx="2" presStyleCnt="4">
        <dgm:presLayoutVars>
          <dgm:bulletEnabled val="1"/>
        </dgm:presLayoutVars>
      </dgm:prSet>
      <dgm:spPr/>
    </dgm:pt>
    <dgm:pt modelId="{2C6CB977-F583-4D34-A4BB-BAE90E241522}" type="pres">
      <dgm:prSet presAssocID="{C3CBE6CA-D988-45A0-A92A-21E390F5FC43}" presName="spacing" presStyleCnt="0"/>
      <dgm:spPr/>
    </dgm:pt>
    <dgm:pt modelId="{EFF30EF7-7D90-49D7-8910-5D58639B12B1}" type="pres">
      <dgm:prSet presAssocID="{6AE3DC0B-BED5-4686-8530-6A105224AF96}" presName="composite" presStyleCnt="0"/>
      <dgm:spPr/>
    </dgm:pt>
    <dgm:pt modelId="{E916EA98-7232-461E-896E-FF9A5850CC37}" type="pres">
      <dgm:prSet presAssocID="{6AE3DC0B-BED5-4686-8530-6A105224AF96}" presName="imgShp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42ACB27B-4AA9-4706-8A66-3B23346009F1}" type="pres">
      <dgm:prSet presAssocID="{6AE3DC0B-BED5-4686-8530-6A105224AF96}" presName="txShp" presStyleLbl="node1" presStyleIdx="3" presStyleCnt="4">
        <dgm:presLayoutVars>
          <dgm:bulletEnabled val="1"/>
        </dgm:presLayoutVars>
      </dgm:prSet>
      <dgm:spPr/>
    </dgm:pt>
  </dgm:ptLst>
  <dgm:cxnLst>
    <dgm:cxn modelId="{6BE77902-5D00-4A31-9112-081BCA2B4A79}" srcId="{DDF7BC40-EBD9-4EBB-9DAB-163F42C4A46B}" destId="{6AE3DC0B-BED5-4686-8530-6A105224AF96}" srcOrd="3" destOrd="0" parTransId="{131A5C10-C5E1-43AF-907E-01EBFFE25520}" sibTransId="{8E2E191A-3FB9-4143-A7DF-871BF3816194}"/>
    <dgm:cxn modelId="{B438EC13-EB2A-467F-8ACC-80118C2BB7E5}" type="presOf" srcId="{A76299C1-046A-4AEE-AA7A-B26487E7AE1D}" destId="{97EE3C4A-323F-4049-8676-D72A644CB99E}" srcOrd="0" destOrd="0" presId="urn:microsoft.com/office/officeart/2005/8/layout/vList3"/>
    <dgm:cxn modelId="{79440B27-8F50-4E31-BDAD-731854272463}" srcId="{DDF7BC40-EBD9-4EBB-9DAB-163F42C4A46B}" destId="{AF6E16EA-BBAE-4F66-96D3-86C94F3385E6}" srcOrd="1" destOrd="0" parTransId="{0A9B2A0E-7A18-4C04-830F-BD1DE7B5C8AB}" sibTransId="{47C04043-65DA-49B4-A8A9-EE9691EA8022}"/>
    <dgm:cxn modelId="{7F05DA45-BA06-489C-855F-71B2CDDBC122}" type="presOf" srcId="{606576EB-D88D-4711-B740-6942C5BF6EB2}" destId="{44D10D09-4F07-465E-A8A7-B79B40A37338}" srcOrd="0" destOrd="1" presId="urn:microsoft.com/office/officeart/2005/8/layout/vList3"/>
    <dgm:cxn modelId="{C9053C4A-B99B-408B-9DCE-4CB873C15D0F}" srcId="{A76299C1-046A-4AEE-AA7A-B26487E7AE1D}" destId="{7DD187DE-0BCC-458F-B7A2-CB0771FC650A}" srcOrd="0" destOrd="0" parTransId="{A0387082-AE6E-4333-819A-96AC2133E9EC}" sibTransId="{1A74D815-8AFC-4A15-8BA2-24E3BD557C74}"/>
    <dgm:cxn modelId="{39246E4E-7A44-4CDC-9E33-85B2D0A153F4}" type="presOf" srcId="{AF6E16EA-BBAE-4F66-96D3-86C94F3385E6}" destId="{44D10D09-4F07-465E-A8A7-B79B40A37338}" srcOrd="0" destOrd="0" presId="urn:microsoft.com/office/officeart/2005/8/layout/vList3"/>
    <dgm:cxn modelId="{DF9B6456-8A13-4456-9571-9344608EA3FF}" type="presOf" srcId="{A4BD6C54-C195-45A3-A1D8-460B072ABA8B}" destId="{A9CB6540-C917-4E02-97E4-172BEE7F585C}" srcOrd="0" destOrd="1" presId="urn:microsoft.com/office/officeart/2005/8/layout/vList3"/>
    <dgm:cxn modelId="{F93F127D-55F4-45BF-9AB0-CA89EB7A6037}" srcId="{DDF7BC40-EBD9-4EBB-9DAB-163F42C4A46B}" destId="{6B5ADFC8-AD3D-4BE5-82DE-434D7EB6134C}" srcOrd="2" destOrd="0" parTransId="{A21B5226-FAC9-4B80-9FD2-E3105F0D7664}" sibTransId="{C3CBE6CA-D988-45A0-A92A-21E390F5FC43}"/>
    <dgm:cxn modelId="{E7BEF98D-A350-425E-9046-A7F8E7B3DE61}" srcId="{AF6E16EA-BBAE-4F66-96D3-86C94F3385E6}" destId="{606576EB-D88D-4711-B740-6942C5BF6EB2}" srcOrd="0" destOrd="0" parTransId="{FF27C1A5-6245-4B1F-B975-F4D7610F2CE6}" sibTransId="{82D3CD92-BD46-42C1-8C26-F8AE47F0A2DE}"/>
    <dgm:cxn modelId="{C2E5A594-12DD-400B-8999-63159B8EAA22}" srcId="{6AE3DC0B-BED5-4686-8530-6A105224AF96}" destId="{B1D41502-7B73-481D-978E-9E2AB95BEB56}" srcOrd="0" destOrd="0" parTransId="{2E297744-6996-4EA5-972E-3FE1BB3B700E}" sibTransId="{99D689CA-44C5-4079-9380-A54B2D207B71}"/>
    <dgm:cxn modelId="{03D7069D-6EB9-417F-B387-0EA3820A538A}" type="presOf" srcId="{6AE3DC0B-BED5-4686-8530-6A105224AF96}" destId="{42ACB27B-4AA9-4706-8A66-3B23346009F1}" srcOrd="0" destOrd="0" presId="urn:microsoft.com/office/officeart/2005/8/layout/vList3"/>
    <dgm:cxn modelId="{95C19DA1-E122-4CBD-A6EC-BEEC7ACC744B}" srcId="{6B5ADFC8-AD3D-4BE5-82DE-434D7EB6134C}" destId="{A4BD6C54-C195-45A3-A1D8-460B072ABA8B}" srcOrd="0" destOrd="0" parTransId="{43C64772-AB67-49C3-8F8B-EA4BF0F4F992}" sibTransId="{1E3CD431-EF5E-4CC2-83E9-39B78841EE78}"/>
    <dgm:cxn modelId="{6C49EFAF-0EA7-44B1-AE26-10506CF8FC74}" type="presOf" srcId="{B1D41502-7B73-481D-978E-9E2AB95BEB56}" destId="{42ACB27B-4AA9-4706-8A66-3B23346009F1}" srcOrd="0" destOrd="1" presId="urn:microsoft.com/office/officeart/2005/8/layout/vList3"/>
    <dgm:cxn modelId="{AC8895B3-3D73-4FD0-9872-A3FFA2C56AFF}" srcId="{DDF7BC40-EBD9-4EBB-9DAB-163F42C4A46B}" destId="{A76299C1-046A-4AEE-AA7A-B26487E7AE1D}" srcOrd="0" destOrd="0" parTransId="{24C8B600-AE3D-4664-B132-80B17B029CA2}" sibTransId="{EAC719F4-C54D-440C-A309-F0AB4511EF0A}"/>
    <dgm:cxn modelId="{8C0625BE-6AB8-407F-976C-99DD2C7C431C}" type="presOf" srcId="{6B5ADFC8-AD3D-4BE5-82DE-434D7EB6134C}" destId="{A9CB6540-C917-4E02-97E4-172BEE7F585C}" srcOrd="0" destOrd="0" presId="urn:microsoft.com/office/officeart/2005/8/layout/vList3"/>
    <dgm:cxn modelId="{280C2CC9-2F70-4539-908B-E4CC5A58E893}" type="presOf" srcId="{7DD187DE-0BCC-458F-B7A2-CB0771FC650A}" destId="{97EE3C4A-323F-4049-8676-D72A644CB99E}" srcOrd="0" destOrd="1" presId="urn:microsoft.com/office/officeart/2005/8/layout/vList3"/>
    <dgm:cxn modelId="{F74731E4-8067-406E-BB0B-E93A3A96399F}" type="presOf" srcId="{DDF7BC40-EBD9-4EBB-9DAB-163F42C4A46B}" destId="{5E34FCA7-B5C7-4A1D-8C9D-17AD5985DDC2}" srcOrd="0" destOrd="0" presId="urn:microsoft.com/office/officeart/2005/8/layout/vList3"/>
    <dgm:cxn modelId="{588B76F6-762F-4E7C-84CF-07C25B3E8D0A}" type="presParOf" srcId="{5E34FCA7-B5C7-4A1D-8C9D-17AD5985DDC2}" destId="{B974A163-2780-47BD-8D9C-A7150BFCC074}" srcOrd="0" destOrd="0" presId="urn:microsoft.com/office/officeart/2005/8/layout/vList3"/>
    <dgm:cxn modelId="{59E39F54-33A6-42B7-A048-C3B3B6E74D8F}" type="presParOf" srcId="{B974A163-2780-47BD-8D9C-A7150BFCC074}" destId="{E13BF7AE-5772-4303-821F-31AF3BFCD749}" srcOrd="0" destOrd="0" presId="urn:microsoft.com/office/officeart/2005/8/layout/vList3"/>
    <dgm:cxn modelId="{3135182E-DBD1-4CBF-A3B2-CEDEC06B591A}" type="presParOf" srcId="{B974A163-2780-47BD-8D9C-A7150BFCC074}" destId="{97EE3C4A-323F-4049-8676-D72A644CB99E}" srcOrd="1" destOrd="0" presId="urn:microsoft.com/office/officeart/2005/8/layout/vList3"/>
    <dgm:cxn modelId="{C9D63E9D-00F9-4237-AA56-85C7BC0E23C8}" type="presParOf" srcId="{5E34FCA7-B5C7-4A1D-8C9D-17AD5985DDC2}" destId="{9E725A5F-8FA2-4570-9C60-3951F1CBC4FA}" srcOrd="1" destOrd="0" presId="urn:microsoft.com/office/officeart/2005/8/layout/vList3"/>
    <dgm:cxn modelId="{7A22209E-D593-4E37-93A2-DBAC87340E94}" type="presParOf" srcId="{5E34FCA7-B5C7-4A1D-8C9D-17AD5985DDC2}" destId="{15D390F7-55A9-48DD-85DE-41DEFAE6959C}" srcOrd="2" destOrd="0" presId="urn:microsoft.com/office/officeart/2005/8/layout/vList3"/>
    <dgm:cxn modelId="{3C58B5C2-37E9-4F65-A591-5CA240A79BEA}" type="presParOf" srcId="{15D390F7-55A9-48DD-85DE-41DEFAE6959C}" destId="{5620728A-493A-47A5-9B94-4FC2612E828C}" srcOrd="0" destOrd="0" presId="urn:microsoft.com/office/officeart/2005/8/layout/vList3"/>
    <dgm:cxn modelId="{1260C8F6-CD8C-4A3E-AB17-03DCE1848489}" type="presParOf" srcId="{15D390F7-55A9-48DD-85DE-41DEFAE6959C}" destId="{44D10D09-4F07-465E-A8A7-B79B40A37338}" srcOrd="1" destOrd="0" presId="urn:microsoft.com/office/officeart/2005/8/layout/vList3"/>
    <dgm:cxn modelId="{F7461F32-B1B1-48C0-A07A-DEBE252701AA}" type="presParOf" srcId="{5E34FCA7-B5C7-4A1D-8C9D-17AD5985DDC2}" destId="{6C01EA62-99E2-4953-B9B8-AC080D274BAD}" srcOrd="3" destOrd="0" presId="urn:microsoft.com/office/officeart/2005/8/layout/vList3"/>
    <dgm:cxn modelId="{0A86C118-4AA8-488D-98B6-EE027E56BB95}" type="presParOf" srcId="{5E34FCA7-B5C7-4A1D-8C9D-17AD5985DDC2}" destId="{DEF0A9D7-CAB2-4F67-A243-C49D01632B77}" srcOrd="4" destOrd="0" presId="urn:microsoft.com/office/officeart/2005/8/layout/vList3"/>
    <dgm:cxn modelId="{7ABF2E79-3E03-4D7E-899C-2528247E5FE4}" type="presParOf" srcId="{DEF0A9D7-CAB2-4F67-A243-C49D01632B77}" destId="{8422F4A2-C777-49F3-9DE8-A59C7808AFD8}" srcOrd="0" destOrd="0" presId="urn:microsoft.com/office/officeart/2005/8/layout/vList3"/>
    <dgm:cxn modelId="{592DADA5-996B-4757-B660-BA690785FD02}" type="presParOf" srcId="{DEF0A9D7-CAB2-4F67-A243-C49D01632B77}" destId="{A9CB6540-C917-4E02-97E4-172BEE7F585C}" srcOrd="1" destOrd="0" presId="urn:microsoft.com/office/officeart/2005/8/layout/vList3"/>
    <dgm:cxn modelId="{E2151635-2343-4FAB-8D02-470EF287AFA0}" type="presParOf" srcId="{5E34FCA7-B5C7-4A1D-8C9D-17AD5985DDC2}" destId="{2C6CB977-F583-4D34-A4BB-BAE90E241522}" srcOrd="5" destOrd="0" presId="urn:microsoft.com/office/officeart/2005/8/layout/vList3"/>
    <dgm:cxn modelId="{C80ABC90-53E3-4E65-B518-14E08A7A92FE}" type="presParOf" srcId="{5E34FCA7-B5C7-4A1D-8C9D-17AD5985DDC2}" destId="{EFF30EF7-7D90-49D7-8910-5D58639B12B1}" srcOrd="6" destOrd="0" presId="urn:microsoft.com/office/officeart/2005/8/layout/vList3"/>
    <dgm:cxn modelId="{1F4572B0-C86D-46B7-8EFF-076FBFA583DF}" type="presParOf" srcId="{EFF30EF7-7D90-49D7-8910-5D58639B12B1}" destId="{E916EA98-7232-461E-896E-FF9A5850CC37}" srcOrd="0" destOrd="0" presId="urn:microsoft.com/office/officeart/2005/8/layout/vList3"/>
    <dgm:cxn modelId="{17559564-B38F-408D-9AA7-38934BB1FA6C}" type="presParOf" srcId="{EFF30EF7-7D90-49D7-8910-5D58639B12B1}" destId="{42ACB27B-4AA9-4706-8A66-3B23346009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EE3C4A-323F-4049-8676-D72A644CB99E}">
      <dsp:nvSpPr>
        <dsp:cNvPr id="0" name=""/>
        <dsp:cNvSpPr/>
      </dsp:nvSpPr>
      <dsp:spPr>
        <a:xfrm rot="10800000">
          <a:off x="1622573" y="1984"/>
          <a:ext cx="5547910" cy="900671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7171" tIns="80010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Application Layer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Malware detection tool/ prototype</a:t>
          </a:r>
        </a:p>
      </dsp:txBody>
      <dsp:txXfrm rot="10800000">
        <a:off x="1847741" y="1984"/>
        <a:ext cx="5322742" cy="900671"/>
      </dsp:txXfrm>
    </dsp:sp>
    <dsp:sp modelId="{E13BF7AE-5772-4303-821F-31AF3BFCD749}">
      <dsp:nvSpPr>
        <dsp:cNvPr id="0" name=""/>
        <dsp:cNvSpPr/>
      </dsp:nvSpPr>
      <dsp:spPr>
        <a:xfrm>
          <a:off x="1172237" y="1984"/>
          <a:ext cx="900671" cy="90067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D10D09-4F07-465E-A8A7-B79B40A37338}">
      <dsp:nvSpPr>
        <dsp:cNvPr id="0" name=""/>
        <dsp:cNvSpPr/>
      </dsp:nvSpPr>
      <dsp:spPr>
        <a:xfrm rot="10800000">
          <a:off x="1622573" y="1171513"/>
          <a:ext cx="5547910" cy="900671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102082"/>
                <a:satOff val="-1464"/>
                <a:lumOff val="853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shade val="80000"/>
                <a:hueOff val="102082"/>
                <a:satOff val="-1464"/>
                <a:lumOff val="853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7171" tIns="80010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ML/DL Frameworks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Scikit-learn, TensorFlow, PyTorch, Pandas, NumPy</a:t>
          </a:r>
        </a:p>
      </dsp:txBody>
      <dsp:txXfrm rot="10800000">
        <a:off x="1847741" y="1171513"/>
        <a:ext cx="5322742" cy="900671"/>
      </dsp:txXfrm>
    </dsp:sp>
    <dsp:sp modelId="{5620728A-493A-47A5-9B94-4FC2612E828C}">
      <dsp:nvSpPr>
        <dsp:cNvPr id="0" name=""/>
        <dsp:cNvSpPr/>
      </dsp:nvSpPr>
      <dsp:spPr>
        <a:xfrm>
          <a:off x="1172237" y="1171513"/>
          <a:ext cx="900671" cy="900671"/>
        </a:xfrm>
        <a:prstGeom prst="ellipse">
          <a:avLst/>
        </a:prstGeom>
        <a:blipFill>
          <a:blip xmlns:r="http://schemas.openxmlformats.org/officeDocument/2006/relationships" r:embed="rId2">
            <a:biLevel thresh="75000"/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9CB6540-C917-4E02-97E4-172BEE7F585C}">
      <dsp:nvSpPr>
        <dsp:cNvPr id="0" name=""/>
        <dsp:cNvSpPr/>
      </dsp:nvSpPr>
      <dsp:spPr>
        <a:xfrm rot="10800000">
          <a:off x="1622573" y="2341042"/>
          <a:ext cx="5547910" cy="900671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204164"/>
                <a:satOff val="-2928"/>
                <a:lumOff val="170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shade val="80000"/>
                <a:hueOff val="204164"/>
                <a:satOff val="-2928"/>
                <a:lumOff val="170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7171" tIns="80010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Development Tools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Android Studio, Jupyter, GitHub, Docker</a:t>
          </a:r>
        </a:p>
      </dsp:txBody>
      <dsp:txXfrm rot="10800000">
        <a:off x="1847741" y="2341042"/>
        <a:ext cx="5322742" cy="900671"/>
      </dsp:txXfrm>
    </dsp:sp>
    <dsp:sp modelId="{8422F4A2-C777-49F3-9DE8-A59C7808AFD8}">
      <dsp:nvSpPr>
        <dsp:cNvPr id="0" name=""/>
        <dsp:cNvSpPr/>
      </dsp:nvSpPr>
      <dsp:spPr>
        <a:xfrm>
          <a:off x="1172237" y="2341042"/>
          <a:ext cx="900671" cy="900671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2ACB27B-4AA9-4706-8A66-3B23346009F1}">
      <dsp:nvSpPr>
        <dsp:cNvPr id="0" name=""/>
        <dsp:cNvSpPr/>
      </dsp:nvSpPr>
      <dsp:spPr>
        <a:xfrm rot="10800000">
          <a:off x="1622573" y="3510571"/>
          <a:ext cx="5547910" cy="900671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306246"/>
                <a:satOff val="-4392"/>
                <a:lumOff val="256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shade val="80000"/>
                <a:hueOff val="306246"/>
                <a:satOff val="-4392"/>
                <a:lumOff val="256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7171" tIns="80010" rIns="149352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Hardware and 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Windows/Linux</a:t>
          </a:r>
        </a:p>
      </dsp:txBody>
      <dsp:txXfrm rot="10800000">
        <a:off x="1847741" y="3510571"/>
        <a:ext cx="5322742" cy="900671"/>
      </dsp:txXfrm>
    </dsp:sp>
    <dsp:sp modelId="{E916EA98-7232-461E-896E-FF9A5850CC37}">
      <dsp:nvSpPr>
        <dsp:cNvPr id="0" name=""/>
        <dsp:cNvSpPr/>
      </dsp:nvSpPr>
      <dsp:spPr>
        <a:xfrm>
          <a:off x="1172237" y="3510571"/>
          <a:ext cx="900671" cy="900671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13710077/capstone_project_group_COM_1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Analysis and identification of malicious mobile applications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COM_18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Sunil Kumar Sahoo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188695945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20221COM0165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BHOOMIKA S HORAPETI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20221COM0144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ROSHAN RAJU KK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20221COM0171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AMOGH ARUN MALAGE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ENGINEERING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Dr.Pallavi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68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Ministry of Power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</a:t>
            </a:r>
          </a:p>
          <a:p>
            <a:pPr marL="7620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ln today's world, using different mobile applications for specific tasks is very common. This leads to smart phone users accumulating too many applications over a period. Seldom do users delete unused applications. Any application performing malicious tasks can very easily go unnoticed. So, there is a need to develop a mobile app tool that can use open-source intelligence and threat feeds to detect various indicators of compromise in the smartphones. The tool can check network communication to various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addresses that are suspicious, various URLs that are suspicious, inbound connections or packets from applications that are suspicious.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E345164-8E22-E5F2-3135-89D70E6DE4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2867286"/>
              </p:ext>
            </p:extLst>
          </p:nvPr>
        </p:nvGraphicFramePr>
        <p:xfrm>
          <a:off x="2271861" y="1682772"/>
          <a:ext cx="8342722" cy="4413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9939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https://github.com/113710077/capstone_project_group_COM_18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7620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1. Processor: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Intel i5/i7 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2. RAM: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Minimum 8 GB (recommended 16 GB for ML/DL training)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3. Storage: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250 GB SSD or higher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4. GPU 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NVIDIA CUDA-enabled GPU for deep learning models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1. Operating System: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Windows 10/11 or Linux (Ubuntu preferred for ML/DL)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2. Programming Language: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Python 3.8+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3. Libraries/Frameworks: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Scikit-learn, TensorFlow / PyTorch, Pandas, NumPy, Matplotlib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4. Tools: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Android Studio (for APK analysis)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APKTool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/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MobSF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(for static analysis)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Wireshark / Frida (for dynamic analysis, if included)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Jupyter Notebook / Google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Colab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for model development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5. Version Control: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GitHub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8329059"/>
              </p:ext>
            </p:extLst>
          </p:nvPr>
        </p:nvGraphicFramePr>
        <p:xfrm>
          <a:off x="2007909" y="1581149"/>
          <a:ext cx="8078771" cy="4338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2FEBA-E20C-5698-BA9A-A1C4D4F72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K. Liu, S. Xu, G. Xu, M. Zhang, D. Sun, and H. Liu, “A Review of Android Malware Detection Approaches Based on Machine Learning,”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vol. 8, pp. 124579–124607, 2020,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: 10.1109/ACCESS.2020.3006143.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“A Survey on Android Malware Detection Techniques Using Supervised Machine Learning | IEEE Journals &amp; Magazine | IEEE Xplore.” Accessed: Aug. 19, 2025. [Online]. Available: https://ieeexplore.ieee.org/document/10734108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R. Bhan, P.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Faruki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and R. Pamula, “Detection of Sensitive Malicious Android Functionalities Using Inter-Component Control-Flow Analysis,”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vol. 13, pp. 120732–120749, 2025,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: 10.1109/ACCESS.2023.3321383.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[4]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“Malicious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analysis for android applications,” ResearchGate. Accessed: Aug. 19, 2025. [Online]. Available: https://www.researchgate.net/publication/285186258_Malicious_behavior_analysis_for_android_applications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[5]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A. Singhal and P. K. Goel, “Analysis and Identification of Malicious Mobile Applications,” in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2023 3rd International Conference on Advancement in Electronics &amp; Communication Engineering (AECE)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Nov. 2023, pp. 1045–1050.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: 10.1109/AECE59614.2023.10428519.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158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759</Words>
  <Application>Microsoft Office PowerPoint</Application>
  <PresentationFormat>Widescreen</PresentationFormat>
  <Paragraphs>91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Verdana</vt:lpstr>
      <vt:lpstr>Wingdings</vt:lpstr>
      <vt:lpstr>Bioinformatics</vt:lpstr>
      <vt:lpstr>Analysis and identification of malicious mobile applications</vt:lpstr>
      <vt:lpstr>Problem Statement Number: 68 </vt:lpstr>
      <vt:lpstr>Content</vt:lpstr>
      <vt:lpstr>Analysis of Problem Statement</vt:lpstr>
      <vt:lpstr>Github Link</vt:lpstr>
      <vt:lpstr>Analysis of Problem Statement </vt:lpstr>
      <vt:lpstr>Analysis of Problem Statement 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Guest User</cp:lastModifiedBy>
  <cp:revision>43</cp:revision>
  <dcterms:modified xsi:type="dcterms:W3CDTF">2025-08-19T17:03:47Z</dcterms:modified>
</cp:coreProperties>
</file>